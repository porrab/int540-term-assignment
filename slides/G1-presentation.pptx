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4A24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International (42 countries)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85.71</c:v>
                </c:pt>
                <c:pt idx="1">
                  <c:v>14.29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2011 monthly revenue (£)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(£)</c:v>
                </c:pt>
              </c:strCache>
            </c:strRef>
          </c:tx>
          <c:spPr>
            <a:solidFill>
              <a:srgbClr val="D4A24C"/>
            </a:solidFill>
            <a:ln w="31750" cap="flat">
              <a:solidFill>
                <a:srgbClr val="D4A2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D4A24C"/>
              </a:solidFill>
              <a:ln w="9525" cap="flat">
                <a:solidFill>
                  <a:srgbClr val="D4A2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671933</c:v>
                </c:pt>
                <c:pt idx="1">
                  <c:v>508886</c:v>
                </c:pt>
                <c:pt idx="2">
                  <c:v>691258</c:v>
                </c:pt>
                <c:pt idx="3">
                  <c:v>516218</c:v>
                </c:pt>
                <c:pt idx="4">
                  <c:v>741192</c:v>
                </c:pt>
                <c:pt idx="5">
                  <c:v>738752</c:v>
                </c:pt>
                <c:pt idx="6">
                  <c:v>689364</c:v>
                </c:pt>
                <c:pt idx="7">
                  <c:v>736576</c:v>
                </c:pt>
                <c:pt idx="8">
                  <c:v>1030475</c:v>
                </c:pt>
                <c:pt idx="9">
                  <c:v>1106670</c:v>
                </c:pt>
                <c:pt idx="10">
                  <c:v>1457746</c:v>
                </c:pt>
                <c:pt idx="11">
                  <c:v>615493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9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Silent Customers Before They Disappear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online gift retailer · Business problem, data readiness, and measurement plan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9692640" cy="822960"/>
          </a:xfrm>
          <a:prstGeom prst="roundRect">
            <a:avLst>
              <a:gd name="adj" fmla="val 1111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II — UCI ML Repository #502  ·  1,067,371 rows  ·  Dec 2009 – Dec 2011  ·  Clean sales base: 1,037,007 rows, £20,121,372.19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540 / DSI 121 — Data Analytics for Business Decision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presentation + 5-minute Q&amp;A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A1–A2 · Company Snapshot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UK gift retailer serving both retail and wholesale buyers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00200"/>
            <a:ext cx="2231136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£20.12M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167128"/>
            <a:ext cx="226771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3824" y="150876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1600200"/>
            <a:ext cx="2231136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5,852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55264" y="2167128"/>
            <a:ext cx="226771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79008" y="150876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88736" y="1600200"/>
            <a:ext cx="2231136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4,898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70448" y="2167128"/>
            <a:ext cx="226771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94192" y="150876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1600200"/>
            <a:ext cx="2231136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85632" y="2167128"/>
            <a:ext cx="2267712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non-store, all-occasion gift-ware retailer. Two customer types share one order stream: retail buyers (small baskets, gifts) and wholesalers (large baskets, resell). Core market is the UK; the rest is spread across 42 other countries.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309360" y="26517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7091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4709160"/>
            <a:ext cx="50840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 segments, by basket size: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baskets (&gt;12 units) are 92.83% of orders and 99.52% of revenue; retail baskets are the remaining, smaller share. Average wholesale order is 16x larger than retail.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clean sales rows only (excludes cancellations, non-product lines, Qty/Price ≤ 0)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A3–A4 · Competitive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Leadership at the core, Differentiation for the retail edge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20624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Forces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98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Entrants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55448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5780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strategy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5780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Leadership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2578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light Differentiation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57800" y="297180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volume (&gt;12-unit baskets) drives 99.52% of revenue — broad-market cost focus, with select SKUs for higher-paying retail buyers.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75320" y="155448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risk to watch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03920" y="21031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27.65% of customers buy once and never return — a retention gap under a high-rivalry, low-entry-barrier market where switching is easy.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TOWS matrix and Value Chain mapping — see Appendix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A Missing Feedback Loop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measures sales, but nothing warns it before a customer goes silent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057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53,628 orders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4,898 SKUs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+ 42 countries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2057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Take order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Pack &amp; ship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Invoice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Returns / cancellations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160020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68512" y="20574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£20.1M revenue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5,852 customers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-£1.53M returns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40.64% gone silent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81812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BE9E7"/>
          </a:solidFill>
          <a:ln w="19050">
            <a:solidFill>
              <a:srgbClr val="B3402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22960" y="3977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feedback loop —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knows total revenue, but no step tells anyone which customer is about to go silent, or where returns concentrate.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029200"/>
            <a:ext cx="10661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feedback, the system can't self-correct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root of both pain points on the next slides, and it's exactly the gap our Goal 2 solution fills.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chosen (B2): the customer journey of a repeat buyer — the one path the data can prove end to 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Loyal Customers Are the Real Money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27.65% buy once — but that's only 3.23% of revenue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126480" cy="173736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buyers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11+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&gt; 180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40.64% (2,378)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59168" y="1645920"/>
            <a:ext cx="197510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days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040880" y="2322576"/>
            <a:ext cx="20116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2nd purchase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235440" y="15544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45168" y="1645920"/>
            <a:ext cx="2157984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326880" y="2322576"/>
            <a:ext cx="21945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spend vs one-time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566160"/>
            <a:ext cx="10661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one-time buyer were fixed, revenue rises less than 4%.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money — and the real risk — is losing the loyal customers who are already going quiet.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£813,004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revenue is held by the 205 loyal customers (6+ orders) who have already gone silent — the value directly at risk today.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check: customers who had a full 12-month window still show 24.79% never-return — confirms the pattern isn't a timing artifact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Returns: the Real Number Is 3.61%, Not 7.59%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read overstates returns by more than 2x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reading
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-£1,526,668  =  7.59%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— includes non-return line items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AF5EC"/>
          </a:solidFill>
          <a:ln w="12700">
            <a:solidFill>
              <a:srgbClr val="5B8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00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— real product returns
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5B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-£726,589  =  3.61%</a:t>
            </a:r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— 47.59% of the credit-note total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154680"/>
            <a:ext cx="10661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52.41% of credit-note value isn't a return at all —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Manual adjustments, Amazon fees, and bank charges that happen to share the same "C-invoice" mechanism as returns. Counting them as returns overstates the problem 2x.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80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claim on stage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8006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"Returning a product means a customer is about to churn" — the data says the opposite: repeat buyers return 53.80% of the time vs. 13.47% for one-time buyers (they simply order more, so they return more). We keep this as an untested hypothesis for Goal 2, not a conclusion.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Return-code detail (Manual, AmazonFee, Bank Charges breakdown) — see Appendix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· 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263480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years of data, 27.65% (1,618) of our 5,852 identified customers bought only once and never returned, and 40.64% (2,378) have gone silent for more than 180 days — including 205 loyal customers (6+ orders) holding £813,004 in revenue. The business has no step that detects this before a customer is already gone, even though repeat buyers generate 11.4x more revenue per head than one-time buyers.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393192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once and vanishes, or goes silent past 180 days, with no system aware of it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59028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902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459028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27.65% (1,618) · 40.64% (2,378) · 205 of them are loyal customers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248656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486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524865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£813,004 = 4.66% of revenue at risk today + lost upside from 11.4x higher-value repeat buyers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"silent customers," not "returns": real returns (£726,589) sit with just 25 customers — solved with a phone call. Going silent is spread across the whole base, invisible without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Customer Journey 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customers drop off, and how many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84280" cy="3566160"/>
        </p:xfrm>
        <a:graphic>
          <a:graphicData uri="http://schemas.openxmlformats.org/drawingml/2006/table">
            <a:tbl>
              <a:tblPr/>
              <a:tblGrid>
                <a:gridCol w="1417320"/>
                <a:gridCol w="1993392"/>
                <a:gridCol w="1993392"/>
                <a:gridCol w="1993392"/>
                <a:gridCol w="1993392"/>
                <a:gridCol w="19933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First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Receives goods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Repeat purchase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Return / 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Goes silent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E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→ order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→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Reorders (56d median)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 return → credit 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further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· order 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 · postage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order 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note (Invoice 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·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· warehouse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·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· accounting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one owns this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 (+)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(0)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Satisfied (+)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Frustrated (-)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Disengaged, then gone (-)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5,852 identified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1,618 lost (27.65%)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42.65% ever returned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2,378 silent &gt;180d (40.64%)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5212080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5212080"/>
            <a:ext cx="10981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drop: stage 2→3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(1,618 never return after first order).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costly: stage 5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touchpoint, no owner. This is exactly the feedback loop our Goal 2 solution adds.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follows the brief's sample journey map: STAGE → STEPS → TOUCHPOINTS → ACTORS → EMOTIONS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C1–C2 · From Pain Point to KPI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catch a silent customer before they're gone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retain customers who are about to go silent — before revenue has already dropped.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64240" cy="292608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team reviews the at-risk list every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weeks with a completed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At-risk customers get contacted in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high-risk customers contacted within 30 days of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return faster and more often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rate · time to 2nd purchase · % silent &gt;180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Loyal-customer revenue stops leaking 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recovered from at-risk group · true return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target without a real baseline — see next slide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C3–C5 · Baseline, Target, Strategy 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process KPIs get hard targets; the outcome KPIs wait for Goal 2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94944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22860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weeks reviewed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from week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contacted within 30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≥80% within one quarter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purchase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— don't let it 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&gt; 180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— target set after Goal 2 backtest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at risk (loyal, silent)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£813,004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recovery — hypothesis, not a number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4173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map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Growth: sales uses the list weekly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64040" y="2468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2697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Process: at-risk contacted in time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64040" y="32004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repeat sooner, silent less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64040" y="3931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8120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loyal-customer revenue holds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93776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937760"/>
            <a:ext cx="10753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targets are still open: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campaign or control-group data to prove that contacting an at-risk customer actually brings them back. Setting a made-up number here would break the course's own rule — no target without a real baseline. This is a documented limitation, not an oversight.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baseline table with sources — see Appendix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· Cleaning Decisions, Not Silent Deletions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97.16% of rows kept — every exclusion has a stated reason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114800"/>
        </p:xfrm>
        <a:graphic>
          <a:graphicData uri="http://schemas.openxmlformats.org/drawingml/2006/table">
            <a:tbl>
              <a:tblPr/>
              <a:tblGrid>
                <a:gridCol w="4572000"/>
                <a:gridCol w="67208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 (34,335 · 3.2%)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before any calculation — exact re-exported duplicates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Customer ID (22.77% rows, 12.68% revenue)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in total revenue; excluded from all customer-level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Cancellations / C-invoices (19,494 rows, -£1.53M)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Separated from sales, analyzed as its own topic — not deleted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qty outside C-invoices (3,457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sales; flagged for follow-up in Goal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0 / negative (6,207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— free/sample items or accounting adjustments, not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Non-product codes: POST, M, FEE, etc. (5,913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excluded from product sales, in both normal and C-invoices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1,067,371 raw rows → 1,037,007 clean sales rows (97.16%)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· What the Data Shows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Christmas peak, two customer sizes, one dominant market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600200"/>
            <a:ext cx="23865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24231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yearly revenue in Nov–Dec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7288" y="1600200"/>
            <a:ext cx="23865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2221992"/>
            <a:ext cx="24231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the UK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600200"/>
            <a:ext cx="238658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2221992"/>
            <a:ext cx="24231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basket (mean £509)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5087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25128" y="1600200"/>
            <a:ext cx="2478024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06840" y="2221992"/>
            <a:ext cx="25146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long tail beyond UK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292608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995160" y="2926080"/>
            <a:ext cx="4709160" cy="3200400"/>
          </a:xfrm>
          <a:prstGeom prst="roundRect">
            <a:avLst>
              <a:gd name="adj" fmla="val 2286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6328" y="2926080"/>
            <a:ext cx="430682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basket (£509) sitting well above the median (£303) confirms the two customer types: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tail of large wholesale orders pulls the average up. Top products differ by revenue (high-price cakestand) vs. by units (low-price gliders sold in bulk) — same two-segment story from a different angle.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2011 dips because the data cuts off on Dec 9 — not a real sales drop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D6–D7 · Data Model and a Working SQL Query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 → 4 normalized tables → a real business answer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[PK]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36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[PK]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[FK]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536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2200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[FK]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 [FK]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Price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1463040"/>
            <a:ext cx="22402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23960" y="1536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61120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 [PK]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1874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lives on INVOICE_LINE, not PRODUCT — a single per-product price distorted JOIN revenue by up to 4x in testing, because prices change over time. Real invoicing locks price at time of sale.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non-UK country generates the most revenue?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64008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(£)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A2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591,536.65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Netherlands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549,952.66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388,732.70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040880" y="39319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42048" y="3931920"/>
            <a:ext cx="4261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EIRE: 3 customers, 528 orders, top non-UK revenue.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concentration risk — a few large wholesale accounts, unlike Germany's broader base.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runs live in analysis/g1d.py via SQLite · 5V data characteristics — see Appendix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problem, measurement, and data — all grounded in real numbers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strategy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1627632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gift retailer · Cost Leadership + light Differentiation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724912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6151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2615184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27.65% one-time buyers, 40.64% silent &gt;180d, £813,004 at risk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12464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60273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Scorecard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0" y="3602736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→ KPI → baseline/target across 4 dimensions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1713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63480"/>
          </a:solidFill>
          <a:ln w="12700">
            <a:solidFill>
              <a:srgbClr val="3C4B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700016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700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59028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0" y="4590288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cleaning decisions, EDA, 4-table model, working SQL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55040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55040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metrics cover 86.65% of revenue (22.77% of rows lack a Customer ID); no cost or campaign data — we can prove who goes silent, not yet that outreach brings them back.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Goal 2 — RFM segmentation, churn prediction, and a real dashboard (Nov 26)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 for Q&amp;A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15-minute presentation — used only if the panel asks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TOWS &amp; Value Chain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strategic mapping behind the strategy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× Opportunity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SKU range (4,898 items) captures seasonal demand — two full Christmas cycles in the data support pre-planned seasonal bundles.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566160"/>
            <a:ext cx="502920" cy="50292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54787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× Threat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9808" y="4160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27.65% one-time-buyer rate, combined with high substitute/entrant threat, means a retention strategy is needed before competitors capture these customers.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463040"/>
          <a:ext cx="5303520" cy="201168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Chain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dataset?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Logistics (Invoice/Date)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Sales (Price/Qty/Country)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Logistics (procurement)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(manufacturing/packing)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355080" y="37033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56248" y="3703320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to state directly: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cost/production data exists in this dataset — Inbound Logistics and Operations can't be evaluated. This is a stated gap, not an assumption.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 of 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What's Inside a Credit Note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naive 7.59% return rate is wrong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/>
              <a:tblGrid>
                <a:gridCol w="5029200"/>
                <a:gridCol w="2194560"/>
                <a:gridCol w="21031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items by return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product?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adjustment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-£423,512.60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AMAZONFEE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-£294,772.71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CRAFT, LITTLE BIRDIE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-£168,469.60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CERAMIC TOP STORAGE JAR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-£77,479.64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8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-£36,096.87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4E0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931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fee lines end up on "return" invoices: the system has no other way to reverse a fee or issue a non-product refund, so it reuses the same C-invoice mechanism as real returns. Proof these are line types, not "C-invoice-only" codes: the same codes appear as positive amounts on ordinary invoices too (e.g. M: 888 rows +£340,731 on normal invoices vs. 538 rows -£423,513 on C-invoices).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 of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Data Characteristics (5V)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fine — Veracity is the real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55064"/>
            <a:ext cx="548640" cy="54864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6002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 rows — enough for the course's bar (≥1,000), smaller than true Big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8775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328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53288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Batch/historical — a one-time export, not a live stream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4655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346557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only — one flat 8-column table, no images or free text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53128"/>
            <a:ext cx="548640" cy="548640"/>
          </a:xfrm>
          <a:prstGeom prst="ellipse">
            <a:avLst/>
          </a:prstGeom>
          <a:solidFill>
            <a:srgbClr val="B3402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39826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439826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it first looks — proven: return rate reads 2x too high if not filtered correctly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3951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E1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385816"/>
            <a:ext cx="548640" cy="548640"/>
          </a:xfrm>
          <a:prstGeom prst="ellipse">
            <a:avLst/>
          </a:prstGeom>
          <a:solidFill>
            <a:srgbClr val="5B8A5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3309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91840" y="53309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directly answers churn, returns, and which market to prioritize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 of 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BSC Baseline Sources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back to a script that reproduces it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92840" cy="384048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50749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weeks reviewed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process — no historical data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contacted within 30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process — no historical data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purchase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analysis/g1b.py — B3 order-count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&gt; 180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40.64% (2,378 customers)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analysis/g1b.py — B3 recency 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at risk (loyal, silent)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£813,004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analysis/g1b.py — 6+ order customers, silent &gt;180d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return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3.61% (£726,589)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analysis/g1b.py — B4, product-only C-invoice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 of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Goal 2 Preview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Balanced Scorecard becomes a working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+ RFM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97680" y="1508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 features per customer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97680" y="2286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named, business-readable groups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97680" y="3063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who will go silent past 180 days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97680" y="3840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× customer value → a prioritized outreach list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D4A24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17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297680" y="4617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worklist for sales + executive overview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5EC"/>
          </a:solidFill>
          <a:ln w="12700">
            <a:solidFill>
              <a:srgbClr val="5B8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577840"/>
            <a:ext cx="10661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B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already: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time-split backtest shows 36.92% of a 4,282-customer cohort never returns within 12 months — a balanced enough split to train a real classifier without needing resampling.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 of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97112" y="6473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Assignment · Goal 1 · INT 540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2026-09-17T10:08:09Z</dcterms:created>
  <dcterms:modified xsi:type="dcterms:W3CDTF">2026-09-17T10:08:09Z</dcterms:modified>
</cp:coreProperties>
</file>
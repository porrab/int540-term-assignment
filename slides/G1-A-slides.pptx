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D4A24C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United Kingdom</c:v>
                </c:pt>
                <c:pt idx="1">
                  <c:v>ต่างประเทศ (42 ประเทศ)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85.71</c:v>
                </c:pt>
                <c:pt idx="1">
                  <c:v>14.29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2761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Arial"/>
              </a:rPr>
              <a:t>สัดส่วนบิลเทียบสัดส่วนยอดขาย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ของบิล</c:v>
                </c:pt>
              </c:strCache>
            </c:strRef>
          </c:tx>
          <c:spPr>
            <a:solidFill>
              <a:srgbClr val="8FA8E8">
                <a:alpha val="100000"/>
              </a:srgbClr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ลูกค้าปลีก (≤12 หน่วย)</c:v>
                  </c:pt>
                  <c:pt idx="1">
                    <c:v>ลูกค้าขายส่ง (&gt;12 หน่วย)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7.17</c:v>
                </c:pt>
                <c:pt idx="1">
                  <c:v>92.83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ของยอดขาย</c:v>
                </c:pt>
              </c:strCache>
            </c:strRef>
          </c:tx>
          <c:spPr>
            <a:solidFill>
              <a:srgbClr val="D4A24C">
                <a:alpha val="100000"/>
              </a:srgbClr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ลูกค้าปลีก (≤12 หน่วย)</c:v>
                  </c:pt>
                  <c:pt idx="1">
                    <c:v>ลูกค้าขายส่ง (&gt;12 หน่วย)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0.48</c:v>
                </c:pt>
                <c:pt idx="1">
                  <c:v>99.52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9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2761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943600" cy="5943600"/>
          </a:xfrm>
          <a:prstGeom prst="ellipse">
            <a:avLst/>
          </a:prstGeom>
          <a:solidFill>
            <a:srgbClr val="263480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4754880" cy="4754880"/>
          </a:xfrm>
          <a:prstGeom prst="ellipse">
            <a:avLst/>
          </a:prstGeom>
          <a:solidFill>
            <a:srgbClr val="26348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916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TERM ASSIGNMENT · GOAL 1 · G1-A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เลือกบริษัทและวิจัยกลยุทธ์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โปรไฟล์บริษัทจากข้อมูลจริง · Five Forces / TOWS / Value Chain · การแบ่งกลุ่มลูกค้า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7589520" cy="822960"/>
          </a:xfrm>
          <a:prstGeom prst="roundRect">
            <a:avLst>
              <a:gd name="adj" fmla="val 11111"/>
            </a:avLst>
          </a:prstGeom>
          <a:solidFill>
            <a:srgbClr val="263480"/>
          </a:solidFill>
          <a:ln w="12700">
            <a:solidFill>
              <a:srgbClr val="3C4B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416052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Dataset: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Online Retail II — UCI ML Repository #502  ·  1,067,371 แถว  ·  2009-12-01 ถึง 2011-12-09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6080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8D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INT 540 / DSI 121 — Data Analytics for Business Decision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8D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 กันยายน 2569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A1 · โปรไฟล์บริษัท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ร้านค้าออนไลน์ขายของขวัญสัญชาติอังกฤษ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035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บริษัทสมมติที่สร้างจาก dataset: ร้านค้าออนไลน์ขายของขวัญ/ของแต่งบ้านแบบ all-occasion gift-ware ไม่มีหน้าร้าน (non-store retailer) ขายทั้งลูกค้าปลีก (ซื้อเป็นของขวัญ) และลูกค้าขายส่ง (ร้านค้าย่อย/ผู้จัดจำหน่ายซื้อไปขายต่อ) ฐานลูกค้าหลักอยู่ในสหราชอาณาจักร แต่ส่งขายไปทั่วยุโรปและอีกหลายทวีป ช่วงข้อมูลครอบคลุมเทศกาลคริสต์มาส 2 รอบ ซึ่งเป็นช่วงพีคตามธรรมชาติของธุรกิจของขวัญ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03720" y="1554480"/>
            <a:ext cx="457200" cy="457200"/>
          </a:xfrm>
          <a:prstGeom prst="ellipse">
            <a:avLst/>
          </a:prstGeom>
          <a:solidFill>
            <a:srgbClr val="D4A24C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037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0" y="15087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Non-store retailer — ขายออนไลน์ล้วน ไม่มีหน้าร้านจริง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903720" y="2331720"/>
            <a:ext cx="457200" cy="457200"/>
          </a:xfrm>
          <a:prstGeom prst="ellipse">
            <a:avLst/>
          </a:prstGeom>
          <a:solidFill>
            <a:srgbClr val="D4A24C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037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0" y="22860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All-occasion gift-ware — สินค้าของขวัญ/ของแต่งบ้านหลากหลาย SKU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903720" y="3108960"/>
            <a:ext cx="457200" cy="457200"/>
          </a:xfrm>
          <a:prstGeom prst="ellipse">
            <a:avLst/>
          </a:prstGeom>
          <a:solidFill>
            <a:srgbClr val="D4A24C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037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98080" y="30632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Dual channel — ลูกค้าปลีกรายย่อย + ลูกค้าขายส่ง (wholesaler) ในฐานเดียวกัน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903720" y="3886200"/>
            <a:ext cx="457200" cy="457200"/>
          </a:xfrm>
          <a:prstGeom prst="ellipse">
            <a:avLst/>
          </a:prstGeom>
          <a:solidFill>
            <a:srgbClr val="D4A24C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498080" y="38404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UK-centric แต่ international — ขายในและนอกสหราชอาณาจักร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60350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4617720"/>
            <a:ext cx="5577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ทำไมต้องเลือกบริษัทแบบนี้:  </a:t>
            </a:r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dataset มีตัวเลขธุรกรรมจริงครบทุกด้าน (ราคา ปริมาณ ประเทศ วันที่ ลูกค้า) พอสำหรับพิสูจน์โปรไฟล์และวางกลยุทธ์ด้วยหลักฐาน ไม่ใช่การเดา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A1 — Company Profile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71432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G1-A · INT 540 Data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A2 · พิสูจน์โปรไฟล์ด้วยตัวเลขจริง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ตัวเลขจากไฟล์ข้อมูล ไม่ใช่การอ้างลอย ๆ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45059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600200"/>
            <a:ext cx="223113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£20.12M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226771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ยอดขายรวม (สุทธิ)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63824" y="1508760"/>
            <a:ext cx="245059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73552" y="1600200"/>
            <a:ext cx="223113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5,852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55264" y="2194560"/>
            <a:ext cx="226771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ลูกค้าที่รู้ตัวตน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79008" y="1508760"/>
            <a:ext cx="245059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88736" y="1600200"/>
            <a:ext cx="223113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4,898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870448" y="2194560"/>
            <a:ext cx="226771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SKU ที่ขายจริง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94192" y="1508760"/>
            <a:ext cx="245059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03920" y="1600200"/>
            <a:ext cx="223113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485632" y="2194560"/>
            <a:ext cx="226771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ประเทศที่มีคำสั่งซื้อ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2880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สัดส่วนยอดขาย: UK vs ต่างประเทศ</a:t>
            </a:r>
            <a:endParaRPr lang="en-US" sz="16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57200" y="3246120"/>
          <a:ext cx="53035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612648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ยอดขาย 5 ตลาดต่างประเทศสูงสุด (£)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3291840"/>
          <a:ext cx="5486400" cy="2468880"/>
        </p:xfrm>
        <a:graphic>
          <a:graphicData uri="http://schemas.openxmlformats.org/drawingml/2006/table">
            <a:tbl>
              <a:tblPr/>
              <a:tblGrid>
                <a:gridCol w="3383280"/>
                <a:gridCol w="21031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ประเทศ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ยอดขาย (£)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EIRE (ไอร์แลนด์)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628,928.63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Netherlands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549,952.66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Germany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388,829.75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France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316,948.80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Australia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168,484.66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126480" y="5852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หมายเหตุ: ฐานคำนวณ = ตัดแถวยกเลิก + Quantity/Price ≤ 0 + StockCode ที่ไม่ใช่สินค้าจริงออก (ดู G1-D1–D3)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A2 — Evidence Numbers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9171432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G1-A · INT 540 Data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A3 · ระบุกลยุทธ์ธุรกิจ (1/2)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Five Forces → เลือก Competitive Strategy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7315200" cy="3566160"/>
        </p:xfrm>
        <a:graphic>
          <a:graphicData uri="http://schemas.openxmlformats.org/drawingml/2006/table">
            <a:tbl>
              <a:tblPr/>
              <a:tblGrid>
                <a:gridCol w="1920240"/>
                <a:gridCol w="1005840"/>
                <a:gridCol w="438912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แรงกดดัน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ระดับ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อ่านจาก dataset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Buyer Power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98A2E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กลาง–สูง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ลูกค้ากระจายตัวมาก (5,852 ราย) แต่ switching cost ต่ำในตลาดของขวัญออนไลน์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Supplier Power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B8A5E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ต่ำ–กลาง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ไม่มีข้อมูลซัพพลายเออร์ในไฟล์ แต่สินค้าทั่วไปน่าจะมีซัพพลายเออร์ทดแทนได้หลายราย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Threat of Substitutes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สูง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ของขวัญซื้อได้จากร้านค้าปลีก ห้างสรรพสินค้า และแพลตฟอร์มอีคอมเมิร์ซอื่น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Threat of New Entrants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สูง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ธุรกิจ non-store retail มี entry barrier ต่ำ ไม่ต้องมีหน้าร้าน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Rivalry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สูง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คู่แข่งจำนวนมาก สินค้า/SKU คล้ายกันทำได้ง่าย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50876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36676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กลยุทธ์ที่เลือก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366760" y="20116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Cost Leadership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366760" y="2514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+ Differentiation เสริม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366760" y="301752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Broad market + บิลขนาดใหญ่ (&gt;12 หน่วย) สร้างรายได้ถึง 99.52% → เน้นต้นทุนต่ำเป็นแกน โดยมี SKU ดีไซน์เฉพาะตัวเสริมสำหรับกลุ่มปลีกที่จ่ายต่อหน่วยสูงกว่า (ดู A4)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A3 — Five Forces &amp; Strategy Choice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71432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G1-A · INT 540 Data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A3 · ระบุกลยุทธ์ธุรกิจ (2/2)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TOWS ที่ผูกกับตัวเลขจริง + Value Chain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TOWS — ตัวอย่าง 2 คู่ที่ผูกกับตัวเลขจริง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864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011680"/>
            <a:ext cx="502920" cy="502920"/>
          </a:xfrm>
          <a:prstGeom prst="ellipse">
            <a:avLst/>
          </a:prstGeom>
          <a:solidFill>
            <a:srgbClr val="5B8A5E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199339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Strength × Opportunity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9808" y="26060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ใช้ SKU ที่กว้าง (4,898 รายการ) จับโอกาสตามฤดูกาล — ข้อมูลครอบคลุม 2 เทศกาลคริสต์มาสเต็ม จึงควรทำ seasonal bundle/promotion ล่วงหน้าให้ตรงพีค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54864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3931920"/>
            <a:ext cx="502920" cy="502920"/>
          </a:xfrm>
          <a:prstGeom prst="ellipse">
            <a:avLst/>
          </a:prstGeom>
          <a:solidFill>
            <a:srgbClr val="B3402F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WT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391363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Weakness × Threat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49808" y="45262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ลูกค้าที่ซื้อครั้งเดียวแล้วหายสูงถึง 27.65% ขณะที่ threat of substitutes/new entrants สูง → ต้องมีกลยุทธ์ retention ก่อนคู่แข่งแย่งลูกค้ากลุ่มนี้ (ผูกต่อ G1-B)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14630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Value Chain (Porter) — ข้อมูลครอบคลุมตรงไหนบ้าง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828800"/>
          <a:ext cx="5303520" cy="2103120"/>
        </p:xfrm>
        <a:graphic>
          <a:graphicData uri="http://schemas.openxmlformats.org/drawingml/2006/table">
            <a:tbl>
              <a:tblPr/>
              <a:tblGrid>
                <a:gridCol w="365760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กิจกรรม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มีข้อมูลใน dataset?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Outbound Logistics (Invoice/InvoiceDate)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✓ มี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Marketing &amp; Sales (Price/Qty/Country)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✓ มี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Inbound Logistics (จัดซื้อเข้าคลัง)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✗ ไม่มี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Operations (ผลิต/แพ็กสินค้า)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402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✗ ไม่มี</a:t>
                      </a:r>
                      <a:endParaRPr lang="en-US" sz="12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C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6355080" y="416052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EAF0FC"/>
          </a:solidFill>
          <a:ln/>
        </p:spPr>
      </p:sp>
      <p:sp>
        <p:nvSpPr>
          <p:cNvPr id="18" name="Text 15"/>
          <p:cNvSpPr/>
          <p:nvPr/>
        </p:nvSpPr>
        <p:spPr>
          <a:xfrm>
            <a:off x="6583680" y="416052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ข้อจำกัดที่ต้องพูดตรง ๆ ตอนนำเสนอ: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dataset ไม่มีข้อมูลต้นทุน/การผลิต — Inbound Logistics และ Operations ประเมินไม่ได้จากไฟล์นี้ ไม่ใช่การสมมติขึ้นมา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A3 — TOWS &amp; Value Chain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171432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G1-A · INT 540 Data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A4 · ลูกค้าสองกลุ่มจากขนาดตะกร้า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เกณฑ์: 12 หน่วยต่อบิล (1 โหล — ขั้นต่ำการขายส่งทั่วไป)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64922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554480"/>
          <a:ext cx="4480560" cy="1417320"/>
        </p:xfrm>
        <a:graphic>
          <a:graphicData uri="http://schemas.openxmlformats.org/drawingml/2006/table">
            <a:tbl>
              <a:tblPr/>
              <a:tblGrid>
                <a:gridCol w="1005840"/>
                <a:gridCol w="777240"/>
                <a:gridCol w="868680"/>
                <a:gridCol w="914400"/>
                <a:gridCol w="9144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กลุ่ม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บิล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% บิล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% ยอดขาย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มูลค่าเฉลี่ย/บิล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ลูกค้าปลีก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2,834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7.17%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0.48%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£34.12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ลูกค้าขายส่ง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36,683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92.83%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D4A24C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99.52%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£545.88</a:t>
                      </a:r>
                      <a:endParaRPr lang="en-US" sz="12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178040" y="3200400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7406640" y="33101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มูลค่าเฉลี่ยต่อบิลของกลุ่มขายส่ง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7406640" y="36118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4A24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สูงกว่ากลุ่มปลีกเกือบ 16 เท่า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7406640" y="4114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(£545.88 เทียบ £34.12) และกลุ่มขายส่งสร้างรายได้เกือบทั้งหมดของบริษัท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178040" y="48006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ข้อจำกัด: แบ่งกลุ่มระดับ "บิล" ไม่ใช่ระดับ "ลูกค้า" — การแบ่งกลุ่มลูกค้าอย่างเป็นทางการ (RFM + clustering) จะทำใน Goal 2 (G2-D2)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A4 — Retail vs Wholesale Segmentation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9171432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G1-A · INT 540 Data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5486400" cy="5486400"/>
          </a:xfrm>
          <a:prstGeom prst="ellipse">
            <a:avLst/>
          </a:prstGeom>
          <a:solidFill>
            <a:srgbClr val="26348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สรุป G1-A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โปรไฟล์บริษัทและกลยุทธ์ — พร้อมเดินหน้าสู่ G1-B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263480"/>
          </a:solidFill>
          <a:ln w="12700">
            <a:solidFill>
              <a:srgbClr val="3C4B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984248"/>
            <a:ext cx="502920" cy="502920"/>
          </a:xfrm>
          <a:prstGeom prst="ellipse">
            <a:avLst/>
          </a:prstGeom>
          <a:solidFill>
            <a:srgbClr val="D4A24C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1874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โปรไฟล์บริษัท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89120" y="18745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ร้านค้าออนไลน์ของขวัญ UK ไม่มีหน้าร้าน ขายทั้งปลีก+ส่ง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263480"/>
          </a:solidFill>
          <a:ln w="12700">
            <a:solidFill>
              <a:srgbClr val="3C4B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3035808"/>
            <a:ext cx="502920" cy="502920"/>
          </a:xfrm>
          <a:prstGeom prst="ellipse">
            <a:avLst/>
          </a:prstGeom>
          <a:solidFill>
            <a:srgbClr val="D4A24C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54480" y="2926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ตัวเลขจริง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389120" y="29260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ยอดขาย £20.12M · UK 85.71% · 43 ประเทศ · ลูกค้า 5,852 ราย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8862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263480"/>
          </a:solidFill>
          <a:ln w="12700">
            <a:solidFill>
              <a:srgbClr val="3C4B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4087368"/>
            <a:ext cx="502920" cy="502920"/>
          </a:xfrm>
          <a:prstGeom prst="ellipse">
            <a:avLst/>
          </a:prstGeom>
          <a:solidFill>
            <a:srgbClr val="D4A24C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4087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54480" y="39776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กลยุทธ์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389120" y="39776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Cost Leadership เป็นแกน + Differentiation เสริมกลุ่มปลีก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9377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263480"/>
          </a:solidFill>
          <a:ln w="12700">
            <a:solidFill>
              <a:srgbClr val="3C4B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5138928"/>
            <a:ext cx="502920" cy="502920"/>
          </a:xfrm>
          <a:prstGeom prst="ellipse">
            <a:avLst/>
          </a:prstGeom>
          <a:solidFill>
            <a:srgbClr val="D4A24C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8680" y="5138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54480" y="50292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แบ่งกลุ่มลูกค้า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389120" y="50292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ขายส่ง 92.83% ของบิล สร้างรายได้ 99.52% ของยอดขาย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8D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ต่อไป: G1-B · Systems Thinking → problem statement (นัดตรวจร่วมกันวันที่ 10 ก.ย.)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5B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Source: UCI ML Repository — Online Retail II (Chen, 2019)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71432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5B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G1-A · INT 540 Data Analytics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2026-09-03T07:28:06Z</dcterms:created>
  <dcterms:modified xsi:type="dcterms:W3CDTF">2026-09-03T07:28:06Z</dcterms:modified>
</cp:coreProperties>
</file>
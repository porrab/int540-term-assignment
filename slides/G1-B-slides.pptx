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26880" y="-2011680"/>
            <a:ext cx="5943600" cy="5943600"/>
          </a:xfrm>
          <a:prstGeom prst="ellipse">
            <a:avLst/>
          </a:prstGeom>
          <a:solidFill>
            <a:srgbClr val="263480"/>
          </a:solidFill>
          <a:ln/>
        </p:spPr>
      </p:sp>
      <p:sp>
        <p:nvSpPr>
          <p:cNvPr id="3" name="Shape 1"/>
          <p:cNvSpPr/>
          <p:nvPr/>
        </p:nvSpPr>
        <p:spPr>
          <a:xfrm>
            <a:off x="-2194560" y="4206240"/>
            <a:ext cx="4754880" cy="4754880"/>
          </a:xfrm>
          <a:prstGeom prst="ellipse">
            <a:avLst/>
          </a:prstGeom>
          <a:solidFill>
            <a:srgbClr val="263480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69164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D4A24C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TERM ASSIGNMENT · GOAL 1 · G1-B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22960" y="214884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ปัญหาคืออะไร และรู้ได้ยังไงว่าเป็นปัญหา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822960" y="3246120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Systems Thinking · Pain point จากข้อมูลจริง · Problem Statement · Customer Journey Map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822960" y="4160520"/>
            <a:ext cx="8595360" cy="822960"/>
          </a:xfrm>
          <a:prstGeom prst="roundRect">
            <a:avLst>
              <a:gd name="adj" fmla="val 11111"/>
            </a:avLst>
          </a:prstGeom>
          <a:solidFill>
            <a:srgbClr val="263480"/>
          </a:solidFill>
          <a:ln w="12700">
            <a:solidFill>
              <a:srgbClr val="3C4B9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51560" y="41605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24C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ฐานคำนวณ: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แถวขายจริง 1,037,007 แถว · £20,121,372.19 · ลูกค้าที่ระบุตัวตนได้ 5,852 ราย (86.65% ของยอดขาย)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" y="60807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8D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INT 540 / DSI 121 — Data Analytics for Business Decision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22960" y="64008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8D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Dataset: Online Retail II (UCI #502) · ทุกตัวเลข reproduce ได้จาก analysis/g1b.py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8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100" kern="0" dirty="0">
                <a:solidFill>
                  <a:srgbClr val="D4A24C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B1 · Systems Thinking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ระบบขายครบทุกขั้น ยกเว้นขั้นที่บอกว่าลูกค้ากำลังจะหาย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20040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E2761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48640" y="16916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150" kern="0" dirty="0">
                <a:solidFill>
                  <a:srgbClr val="D4A24C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INPUT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04672" y="2103120"/>
            <a:ext cx="27432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300" dirty="0">
                <a:solidFill>
                  <a:srgbClr val="1E276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คำสั่งซื้อ 53,628 ใบ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E276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สินค้า 4,898 SKU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E276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ลูกค้า UK + 42 ประเทศ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480560" y="1600200"/>
            <a:ext cx="320040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E2761">
                <a:alpha val="1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480560" y="16916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150" kern="0" dirty="0">
                <a:solidFill>
                  <a:srgbClr val="D4A24C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PROCESS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736592" y="2103120"/>
            <a:ext cx="27432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300" dirty="0">
                <a:solidFill>
                  <a:srgbClr val="1E276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1. รับคำสั่งซื้อ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E276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2. จัดของ / ส่งของ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E276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3. ออกใบแจ้งหนี้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E276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4. รับคืน / ยกเลิก (8,292 ใบ)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412480" y="1600200"/>
            <a:ext cx="320040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E2761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412480" y="16916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150" kern="0" dirty="0">
                <a:solidFill>
                  <a:srgbClr val="D4A24C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OUTPUT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8668512" y="2103120"/>
            <a:ext cx="27432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300" dirty="0">
                <a:solidFill>
                  <a:srgbClr val="1E276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ยอดขาย £20.1M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E276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ลูกค้า 5,852 ราย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E276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คืนของ -£1.53M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E276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ลูกค้าเงียบ 40.64%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886200" y="24231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→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7818120" y="24231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→</a:t>
            </a:r>
            <a:endParaRPr lang="en-US" sz="3000" dirty="0"/>
          </a:p>
        </p:txBody>
      </p:sp>
      <p:sp>
        <p:nvSpPr>
          <p:cNvPr id="15" name="Shape 13"/>
          <p:cNvSpPr/>
          <p:nvPr/>
        </p:nvSpPr>
        <p:spPr>
          <a:xfrm>
            <a:off x="548640" y="4160520"/>
            <a:ext cx="11064240" cy="868680"/>
          </a:xfrm>
          <a:prstGeom prst="roundRect">
            <a:avLst>
              <a:gd name="adj" fmla="val 10526"/>
            </a:avLst>
          </a:prstGeom>
          <a:solidFill>
            <a:srgbClr val="FBE9E7"/>
          </a:solidFill>
          <a:ln w="19050">
            <a:solidFill>
              <a:srgbClr val="B3402F"/>
            </a:solidFill>
            <a:prstDash val="dash"/>
          </a:ln>
        </p:spPr>
      </p:sp>
      <p:sp>
        <p:nvSpPr>
          <p:cNvPr id="16" name="Text 14"/>
          <p:cNvSpPr/>
          <p:nvPr/>
        </p:nvSpPr>
        <p:spPr>
          <a:xfrm>
            <a:off x="822960" y="416052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3402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FEEDBACK LOOP ที่ขาด — </a:t>
            </a:r>
            <a:pPr indent="0" marL="0">
              <a:buNone/>
            </a:pPr>
            <a:r>
              <a:rPr lang="en-US" sz="1500" dirty="0">
                <a:solidFill>
                  <a:srgbClr val="1E276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ระบบวัดได้แค่ “ขายได้เท่าไร” แต่ไม่มีขั้นตอนใดป้อนกลับว่า ลูกค้าคนไหนกำลังเงียบ หรือ การคืนของกระจุกที่ใคร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548640" y="525780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FFF4E0"/>
          </a:solidFill>
          <a:ln w="12700">
            <a:solidFill>
              <a:srgbClr val="D4A24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49808" y="5257800"/>
            <a:ext cx="1066190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b="1" dirty="0">
                <a:solidFill>
                  <a:srgbClr val="1E276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เมื่อไม่มี feedback ระบบจึงแก้ตัวเองไม่ได้ </a:t>
            </a:r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1E276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— นี่คือรากของ pain point ทั้ง 2 ข้อใน B3/B4 และตรงกับคาบ 13 ส.ค.: ข้อมูลมีอยู่แล้ว แต่ไม่ถูกแปลงเป็น information ที่ใช้ตัดสินใจ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457200" y="6473952"/>
            <a:ext cx="10725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B6B8C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ขอบเขตที่เลือก (B2): customer journey ของลูกค้าที่ซื้อซ้ำ — เส้นเดียวที่พิสูจน์ได้ด้วยข้อมูลทุกจุด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171432" y="647395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8C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G1-B · INT 540 Data Analytics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8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100" kern="0" dirty="0">
                <a:solidFill>
                  <a:srgbClr val="D4A24C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B3 · Pain point ที่ 1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ลูกค้า 27.65% ซื้อครั้งเดียวแล้วไม่กลับมาอีกเลย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260604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E2761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58368" y="1645920"/>
            <a:ext cx="2386584" cy="71597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B3402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27.65%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640080" y="2295144"/>
            <a:ext cx="2423160" cy="4690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8C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ซื้อครั้งเดียว (1,618 ราย)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337560" y="1554480"/>
            <a:ext cx="260604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E2761">
                <a:alpha val="1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447288" y="1645920"/>
            <a:ext cx="2386584" cy="71597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B3402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24.79%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3429000" y="2295144"/>
            <a:ext cx="2423160" cy="4690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8C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cohort 12 เดือนยืนยัน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126480" y="1554480"/>
            <a:ext cx="260604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E2761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236208" y="1645920"/>
            <a:ext cx="2386584" cy="71597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56 วัน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6217920" y="2295144"/>
            <a:ext cx="2423160" cy="4690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8C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มัธยฐานถึงการซื้อครั้งที่ 2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915400" y="1554480"/>
            <a:ext cx="269748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E2761">
                <a:alpha val="1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9025128" y="1645920"/>
            <a:ext cx="2478024" cy="71597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B8A5E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11.4×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9006840" y="2295144"/>
            <a:ext cx="2514600" cy="4690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8C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ลูกค้าซื้อซ้ำสร้างรายได้มากกว่า</a:t>
            </a:r>
            <a:endParaRPr lang="en-US" sz="1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017520"/>
          <a:ext cx="6675120" cy="2468880"/>
        </p:xfrm>
        <a:graphic>
          <a:graphicData uri="http://schemas.openxmlformats.org/drawingml/2006/table">
            <a:tbl>
              <a:tblPr/>
              <a:tblGrid>
                <a:gridCol w="2286000"/>
                <a:gridCol w="1280160"/>
                <a:gridCol w="1554480"/>
                <a:gridCol w="155448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จำนวนครั้งที่สั่งซื้อ</a:t>
                      </a:r>
                      <a:endParaRPr lang="en-US" sz="125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ลูกค้า</a:t>
                      </a:r>
                      <a:endParaRPr lang="en-US" sz="125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% ลูกค้า</a:t>
                      </a:r>
                      <a:endParaRPr lang="en-US" sz="125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% ยอดขาย</a:t>
                      </a:r>
                      <a:endParaRPr lang="en-US" sz="125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B3402F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1 ครั้ง</a:t>
                      </a:r>
                      <a:endParaRPr lang="en-US" sz="120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5B6B8C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1,618</a:t>
                      </a:r>
                      <a:endParaRPr lang="en-US" sz="120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B3402F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27.65%</a:t>
                      </a:r>
                      <a:endParaRPr lang="en-US" sz="120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B3402F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3.23%</a:t>
                      </a:r>
                      <a:endParaRPr lang="en-US" sz="120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E2761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2 ครั้ง</a:t>
                      </a:r>
                      <a:endParaRPr lang="en-US" sz="120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5B6B8C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945</a:t>
                      </a:r>
                      <a:endParaRPr lang="en-US" sz="120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5B6B8C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16.15%</a:t>
                      </a:r>
                      <a:endParaRPr lang="en-US" sz="120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5B6B8C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4.70%</a:t>
                      </a:r>
                      <a:endParaRPr lang="en-US" sz="120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E2761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3 ครั้ง</a:t>
                      </a:r>
                      <a:endParaRPr lang="en-US" sz="120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5B6B8C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659</a:t>
                      </a:r>
                      <a:endParaRPr lang="en-US" sz="120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5B6B8C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11.26%</a:t>
                      </a:r>
                      <a:endParaRPr lang="en-US" sz="120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5B6B8C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4.77%</a:t>
                      </a:r>
                      <a:endParaRPr lang="en-US" sz="120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E2761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4–5 ครั้ง</a:t>
                      </a:r>
                      <a:endParaRPr lang="en-US" sz="120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5B6B8C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844</a:t>
                      </a:r>
                      <a:endParaRPr lang="en-US" sz="120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5B6B8C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14.42%</a:t>
                      </a:r>
                      <a:endParaRPr lang="en-US" sz="120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5B6B8C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7.45%</a:t>
                      </a:r>
                      <a:endParaRPr lang="en-US" sz="120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E2761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6–10 ครั้ง</a:t>
                      </a:r>
                      <a:endParaRPr lang="en-US" sz="120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5B6B8C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922</a:t>
                      </a:r>
                      <a:endParaRPr lang="en-US" sz="120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5B6B8C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15.76%</a:t>
                      </a:r>
                      <a:endParaRPr lang="en-US" sz="120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5B6B8C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15.18%</a:t>
                      </a:r>
                      <a:endParaRPr lang="en-US" sz="120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B8A5E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11+ ครั้ง</a:t>
                      </a:r>
                      <a:endParaRPr lang="en-US" sz="120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5B6B8C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864</a:t>
                      </a:r>
                      <a:endParaRPr lang="en-US" sz="120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B8A5E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14.76%</a:t>
                      </a:r>
                      <a:endParaRPr lang="en-US" sz="120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B8A5E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64.67%</a:t>
                      </a:r>
                      <a:endParaRPr lang="en-US" sz="120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C"/>
                    </a:solidFill>
                  </a:tcPr>
                </a:tc>
              </a:tr>
            </a:tbl>
          </a:graphicData>
        </a:graphic>
      </p:graphicFrame>
      <p:sp>
        <p:nvSpPr>
          <p:cNvPr id="17" name="Shape 14"/>
          <p:cNvSpPr/>
          <p:nvPr/>
        </p:nvSpPr>
        <p:spPr>
          <a:xfrm>
            <a:off x="7498080" y="3017520"/>
            <a:ext cx="4114800" cy="246888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E2761">
                <a:alpha val="18000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7726680" y="31546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4A24C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กันข้อโต้แย้งไว้ก่อน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7726680" y="3566160"/>
            <a:ext cx="365760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E276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“ลูกค้าที่เพิ่งซื้อปลายปี 2011 ยังไม่ทันกลับมา จะนับว่าหายได้ยังไง”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E276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จึงตัด cohort เฉพาะลูกค้าที่ซื้อครั้งแรกก่อน 9 ธ.ค. 2010 — ทุกคนมีเวลาเต็ม 12 เดือน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E276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จาก 4,284 ราย มี 1,062 ราย (24.79%) ที่ไม่กลับมาเลย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E276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ใกล้เคียง 27.65% → ไม่ใช่ผลจากการตัดช่วงเวลา</a:t>
            </a:r>
            <a:endParaRPr lang="en-US" sz="1250" dirty="0"/>
          </a:p>
        </p:txBody>
      </p:sp>
      <p:sp>
        <p:nvSpPr>
          <p:cNvPr id="20" name="Text 17"/>
          <p:cNvSpPr/>
          <p:nvPr/>
        </p:nvSpPr>
        <p:spPr>
          <a:xfrm>
            <a:off x="457200" y="6473952"/>
            <a:ext cx="10725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B6B8C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ที่มา: analysis/g1b.py — ลูกค้าที่ระบุตัวตนได้ 5,852 ราย (86.65% ของยอดขาย)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9171432" y="647395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8C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G1-B · INT 540 Data Analytics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8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100" kern="0" dirty="0">
                <a:solidFill>
                  <a:srgbClr val="D4A24C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B3 · อ่านตัวเลขให้ตรง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เยอะในเชิงจำนวนหัว แต่เล็กในเชิงเงิน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9496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E2761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77240" y="16916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ลูกค้าซื้อครั้งเดียว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777240" y="2103120"/>
            <a:ext cx="49377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B3402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27.65%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B6B8C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  ของจำนวนลูกค้า
</a:t>
            </a:r>
            <a:pPr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5B6B8C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3.23%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B6B8C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  ของยอดขาย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6217920" y="1554480"/>
            <a:ext cx="539496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E2761">
                <a:alpha val="1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46520" y="16916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ลูกค้าสั่ง 11+ ครั้ง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446520" y="2103120"/>
            <a:ext cx="49377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5B6B8C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14.76%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B6B8C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  ของจำนวนลูกค้า
</a:t>
            </a:r>
            <a:pPr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5B8A5E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64.67%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B6B8C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  ของยอดขาย</a:t>
            </a:r>
            <a:endParaRPr lang="en-US" sz="3000" dirty="0"/>
          </a:p>
        </p:txBody>
      </p:sp>
      <p:sp>
        <p:nvSpPr>
          <p:cNvPr id="10" name="Shape 8"/>
          <p:cNvSpPr/>
          <p:nvPr/>
        </p:nvSpPr>
        <p:spPr>
          <a:xfrm>
            <a:off x="548640" y="361188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FFF4E0"/>
          </a:solidFill>
          <a:ln w="12700">
            <a:solidFill>
              <a:srgbClr val="D4A24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49808" y="3611880"/>
            <a:ext cx="1066190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b="1" dirty="0">
                <a:solidFill>
                  <a:srgbClr val="B3402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ถ้าแก้ปัญหาลูกค้าซื้อครั้งเดียวได้ทั้งหมด ก็ได้เงินเพิ่มไม่ถึง 4% — </a:t>
            </a:r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1E276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เงินจริงอยู่ที่ลูกค้าประจำ ความเสี่ยงที่แพงที่สุดจึงคือ “ลูกค้าประจำเงียบหาย” ไม่ใช่ “ลูกค้าขาจรไม่กลับมา”</a:t>
            </a:r>
            <a:endParaRPr lang="en-US" sz="13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663440"/>
          <a:ext cx="11064240" cy="1371600"/>
        </p:xfrm>
        <a:graphic>
          <a:graphicData uri="http://schemas.openxmlformats.org/drawingml/2006/table">
            <a:tbl>
              <a:tblPr/>
              <a:tblGrid>
                <a:gridCol w="2194560"/>
                <a:gridCol w="1645920"/>
                <a:gridCol w="1828800"/>
                <a:gridCol w="2377440"/>
                <a:gridCol w="3017520"/>
              </a:tblGrid>
              <a:tr h="3383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กลุ่มลูกค้า</a:t>
                      </a:r>
                      <a:endParaRPr lang="en-US" sz="125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จำนวน</a:t>
                      </a:r>
                      <a:endParaRPr lang="en-US" sz="125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% ยอดขาย</a:t>
                      </a:r>
                      <a:endParaRPr lang="en-US" sz="125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เงียบ &gt; 180 วัน</a:t>
                      </a:r>
                      <a:endParaRPr lang="en-US" sz="125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ยอดขายที่กลุ่มเงียบถือครอง</a:t>
                      </a:r>
                      <a:endParaRPr lang="en-US" sz="125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E2761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สั่ง 6+ ครั้ง</a:t>
                      </a:r>
                      <a:endParaRPr lang="en-US" sz="120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5B6B8C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1,786</a:t>
                      </a:r>
                      <a:endParaRPr lang="en-US" sz="120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5B6B8C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79.84%</a:t>
                      </a:r>
                      <a:endParaRPr lang="en-US" sz="120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5B6B8C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205 ราย (11.48%)</a:t>
                      </a:r>
                      <a:endParaRPr lang="en-US" sz="120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B3402F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£813,004  (4.66%)</a:t>
                      </a:r>
                      <a:endParaRPr lang="en-US" sz="120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E2761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สั่ง 11+ ครั้ง</a:t>
                      </a:r>
                      <a:endParaRPr lang="en-US" sz="120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5B6B8C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864</a:t>
                      </a:r>
                      <a:endParaRPr lang="en-US" sz="120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5B6B8C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64.67%</a:t>
                      </a:r>
                      <a:endParaRPr lang="en-US" sz="120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5B6B8C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52 ราย (6.02%)</a:t>
                      </a:r>
                      <a:endParaRPr lang="en-US" sz="120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B3402F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£475,808  (2.73%)</a:t>
                      </a:r>
                      <a:endParaRPr lang="en-US" sz="120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C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B6B8C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ลูกค้าทั้งหมด</a:t>
                      </a:r>
                      <a:endParaRPr lang="en-US" sz="120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5B6B8C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5,852</a:t>
                      </a:r>
                      <a:endParaRPr lang="en-US" sz="120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5B6B8C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100%</a:t>
                      </a:r>
                      <a:endParaRPr lang="en-US" sz="120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5B6B8C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2,378 ราย (40.64%)</a:t>
                      </a:r>
                      <a:endParaRPr lang="en-US" sz="120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5B6B8C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13.49% ของยอดขาย</a:t>
                      </a:r>
                      <a:endParaRPr lang="en-US" sz="120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 10"/>
          <p:cNvSpPr/>
          <p:nvPr/>
        </p:nvSpPr>
        <p:spPr>
          <a:xfrm>
            <a:off x="457200" y="6473952"/>
            <a:ext cx="10725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B6B8C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“เงียบ &gt; 180 วัน” ตั้งจากข้อมูลเอง: มัธยฐานถึงการซื้อครั้งที่ 2 = 56 วัน · P75 = 133 วัน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9171432" y="647395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8C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G1-B · INT 540 Data Analytics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8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100" kern="0" dirty="0">
                <a:solidFill>
                  <a:srgbClr val="D4A24C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B4 · Pain point ที่ 2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การคืนของ 7.59% เป็นตัวเลขที่ใช้ไม่ได้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94960" cy="1371600"/>
          </a:xfrm>
          <a:prstGeom prst="roundRect">
            <a:avLst>
              <a:gd name="adj" fmla="val 6667"/>
            </a:avLst>
          </a:prstGeom>
          <a:solidFill>
            <a:srgbClr val="FBE9E7"/>
          </a:solidFill>
          <a:ln w="12700">
            <a:solidFill>
              <a:srgbClr val="B3402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600200"/>
            <a:ext cx="48463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B6B8C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ถ้ารายงานแบบตรง ๆ
</a:t>
            </a:r>
            <a:pPr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B3402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-£1,526,667.86  =  7.59%</a:t>
            </a:r>
            <a:pPr indent="0" marL="0">
              <a:lnSpc>
                <a:spcPct val="115000"/>
              </a:lnSpc>
              <a:buNone/>
            </a:pP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B6B8C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ของยอดขาย (ใบ C 8,292 ใบ / 19,494 แถว)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217920" y="1554480"/>
            <a:ext cx="5394960" cy="1371600"/>
          </a:xfrm>
          <a:prstGeom prst="roundRect">
            <a:avLst>
              <a:gd name="adj" fmla="val 6667"/>
            </a:avLst>
          </a:prstGeom>
          <a:solidFill>
            <a:srgbClr val="EAF5EC"/>
          </a:solidFill>
          <a:ln w="12700">
            <a:solidFill>
              <a:srgbClr val="5B8A5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92240" y="1600200"/>
            <a:ext cx="48463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B6B8C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ตัวเลขที่ถูกต้อง — คืนสินค้าจริง
</a:t>
            </a:r>
            <a:pPr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5B8A5E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-£726,588.95  =  3.61%</a:t>
            </a:r>
            <a:pPr indent="0" marL="0">
              <a:lnSpc>
                <a:spcPct val="115000"/>
              </a:lnSpc>
              <a:buNone/>
            </a:pP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B6B8C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ของยอดขาย (คิดเป็น 47.59% ของยอดใบ C)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306324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52.41% ของยอดใบ C ไม่ใช่การคืนสินค้าเลย — เป็นรายการบัญชีที่บังเอิญถูกบันทึกเป็นใบ C</a:t>
            </a:r>
            <a:endParaRPr lang="en-US" sz="17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566160"/>
          <a:ext cx="11064240" cy="2103120"/>
        </p:xfrm>
        <a:graphic>
          <a:graphicData uri="http://schemas.openxmlformats.org/drawingml/2006/table">
            <a:tbl>
              <a:tblPr/>
              <a:tblGrid>
                <a:gridCol w="5029200"/>
                <a:gridCol w="2194560"/>
                <a:gridCol w="2103120"/>
                <a:gridCol w="173736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Top 5 รายการที่ถูก “คืน” มากที่สุดตามมูลค่า</a:t>
                      </a:r>
                      <a:endParaRPr lang="en-US" sz="125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StockCode</a:t>
                      </a:r>
                      <a:endParaRPr lang="en-US" sz="125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มูลค่า</a:t>
                      </a:r>
                      <a:endParaRPr lang="en-US" sz="125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ใช่สินค้าไหม</a:t>
                      </a:r>
                      <a:endParaRPr lang="en-US" sz="125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E2761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Manual (รายการปรับปรุงด้วยมือ)</a:t>
                      </a:r>
                      <a:endParaRPr lang="en-US" sz="120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5B6B8C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M</a:t>
                      </a:r>
                      <a:endParaRPr lang="en-US" sz="120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5B6B8C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-£423,512.60</a:t>
                      </a:r>
                      <a:endParaRPr lang="en-US" sz="120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B3402F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ไม่ใช่</a:t>
                      </a:r>
                      <a:endParaRPr lang="en-US" sz="120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E2761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Amazon Fee</a:t>
                      </a:r>
                      <a:endParaRPr lang="en-US" sz="120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5B6B8C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AMAZONFEE</a:t>
                      </a:r>
                      <a:endParaRPr lang="en-US" sz="120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5B6B8C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-£294,772.71</a:t>
                      </a:r>
                      <a:endParaRPr lang="en-US" sz="120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B3402F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ไม่ใช่</a:t>
                      </a:r>
                      <a:endParaRPr lang="en-US" sz="120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E2761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PAPER CRAFT , LITTLE BIRDIE</a:t>
                      </a:r>
                      <a:endParaRPr lang="en-US" sz="120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5B6B8C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23843</a:t>
                      </a:r>
                      <a:endParaRPr lang="en-US" sz="120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5B6B8C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-£168,469.60</a:t>
                      </a:r>
                      <a:endParaRPr lang="en-US" sz="120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B8A5E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ใช่</a:t>
                      </a:r>
                      <a:endParaRPr lang="en-US" sz="120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E2761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MEDIUM CERAMIC TOP STORAGE JAR</a:t>
                      </a:r>
                      <a:endParaRPr lang="en-US" sz="120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5B6B8C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23166</a:t>
                      </a:r>
                      <a:endParaRPr lang="en-US" sz="120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5B6B8C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-£77,479.64</a:t>
                      </a:r>
                      <a:endParaRPr lang="en-US" sz="120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B8A5E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ใช่</a:t>
                      </a:r>
                      <a:endParaRPr lang="en-US" sz="120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E2761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Bank Charges</a:t>
                      </a:r>
                      <a:endParaRPr lang="en-US" sz="120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5B6B8C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BANK CHARGES</a:t>
                      </a:r>
                      <a:endParaRPr lang="en-US" sz="120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5B6B8C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-£36,096.87</a:t>
                      </a:r>
                      <a:endParaRPr lang="en-US" sz="120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B3402F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ไม่ใช่</a:t>
                      </a:r>
                      <a:endParaRPr lang="en-US" sz="120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457200" y="6473952"/>
            <a:ext cx="10725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B6B8C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ประเด็นนี้อยู่บนสไลด์เพราะแสดงว่าทีมอ่านข้อมูลจริง ไม่ได้ groupby แล้วเชื่อผลทันที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171432" y="647395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8C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G1-B · INT 540 Data Analytics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8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100" kern="0" dirty="0">
                <a:solidFill>
                  <a:srgbClr val="D4A24C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B4 · กระจุกตัว และความเข้าใจผิด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การคืนของกระจุกที่คนไม่กี่ราย และไม่ใช่สัญญาณว่าจะเลิกซื้อ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52044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E2761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58368" y="1645920"/>
            <a:ext cx="3300984" cy="742493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B3402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58.12%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640080" y="2322576"/>
            <a:ext cx="3337560" cy="4864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8C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ของมูลค่าการคืน มาจากผู้คืน 1% แรก (25 ราย)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251960" y="1554480"/>
            <a:ext cx="352044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E2761">
                <a:alpha val="1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361688" y="1645920"/>
            <a:ext cx="3300984" cy="742493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B3402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41.92%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4343400" y="2322576"/>
            <a:ext cx="3337560" cy="4864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8C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มาจาก 10 รายแรกเท่านั้น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955280" y="1554480"/>
            <a:ext cx="365760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E2761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065008" y="1645920"/>
            <a:ext cx="3438144" cy="742493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B6B8C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-£431,531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8046720" y="2322576"/>
            <a:ext cx="3474720" cy="4864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8C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ยอดคืนที่ไม่มี Customer ID (750 แถว) — สอบกลับไม่ได้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3063240"/>
            <a:ext cx="5394960" cy="219456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E2761">
                <a:alpha val="1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77240" y="32004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“คืนของบ่อย = กำลังจะเลิกซื้อ” ?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777240" y="3657600"/>
            <a:ext cx="4937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E276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ลูกค้าซื้อซ้ำ เคยคืนของ    </a:t>
            </a:r>
            <a:pPr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E276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53.80%
</a:t>
            </a:r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E276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ลูกค้าซื้อครั้งเดียว เคยคืนของ    </a:t>
            </a:r>
            <a:pPr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B6B8C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13.47%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777240" y="461772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B6B8C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ข้อมูลบอกตรงข้ามกับสัญชาตญาณ — ลูกค้าประจำคืนของบ่อยกว่าเกือบ 4 เท่า เพราะซื้อบ่อยกว่า จึงมีโอกาสคืนมากกว่า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217920" y="3063240"/>
            <a:ext cx="5394960" cy="2194560"/>
          </a:xfrm>
          <a:prstGeom prst="roundRect">
            <a:avLst>
              <a:gd name="adj" fmla="val 4167"/>
            </a:avLst>
          </a:prstGeom>
          <a:solidFill>
            <a:srgbClr val="FFF4E0"/>
          </a:solidFill>
          <a:ln w="12700">
            <a:solidFill>
              <a:srgbClr val="D4A24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46520" y="32004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4A24C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สิ่งที่ห้ามเขียนบนสไลด์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6446520" y="3611880"/>
            <a:ext cx="49377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E276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ห้ามสรุปว่า “การคืนของทำนายการเลิกซื้อ” — หลักฐานเบื้องต้นบอกว่าไม่จริง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E276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เก็บไว้เป็นสมมติฐานที่จะทดสอบจริงใน Goal 2 ตอนทำ classification (G2-D3)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E276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อีกเรื่อง: แถว Quantity ติดลบที่ไม่ใช่ใบ C 3,457 แถว มูลค่ารวม £0.00 และ 100% ไม่มี Customer ID → เป็นการตัดสต๊อกของเสีย (damaged, smashed, thrown away) ไม่ใช่การคืนจากลูกค้า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457200" y="6473952"/>
            <a:ext cx="10725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B6B8C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อัตราคืนของ UK 7.71% vs ต่างประเทศ 6.85% — ไม่ต่างกันมาก ปัญหาไม่ได้อยู่ที่ตลาดใดตลาดหนึ่ง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171432" y="647395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8C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G1-B · INT 540 Data Analytics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2377440"/>
            <a:ext cx="5486400" cy="5486400"/>
          </a:xfrm>
          <a:prstGeom prst="ellipse">
            <a:avLst/>
          </a:prstGeom>
          <a:solidFill>
            <a:srgbClr val="26348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D4A24C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B5 · PROBLEM STATEMENT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005840"/>
            <a:ext cx="10881360" cy="2514600"/>
          </a:xfrm>
          <a:prstGeom prst="roundRect">
            <a:avLst>
              <a:gd name="adj" fmla="val 3636"/>
            </a:avLst>
          </a:prstGeom>
          <a:solidFill>
            <a:srgbClr val="263480"/>
          </a:solidFill>
          <a:ln w="19050">
            <a:solidFill>
              <a:srgbClr val="D4A24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0120" y="1143000"/>
            <a:ext cx="1024128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900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ตลอด 2 ปีของข้อมูล ลูกค้าที่ระบุตัวตนได้ 5,852 ราย มีถึง 27.65% (1,618 ราย) ที่ซื้อเพียงครั้งเดียวแล้วไม่กลับมาอีก และ 40.64% (2,378 ราย) เงียบหายเกิน 180 วัน — ในจำนวนนี้มีลูกค้าประจำที่สั่งซื้อตั้งแต่ 6 ครั้งขึ้นไปรวม 205 ราย ซึ่งถือครองยอดขาย £813,004 (4.66% ของยอดขายจากลูกค้าที่ระบุตัวตนได้) — โดยธุรกิจไม่มีขั้นตอนใดในระบบที่ตรวจจับ การเงียบหายนี้ได้ก่อนที่ลูกค้าจะหายไปแล้ว ทั้งที่ลูกค้าซื้อซ้ำสร้างรายได้เฉลี่ยต่อรายสูงกว่าลูกค้าซื้อครั้งเดียว 11.4 เท่า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640080" y="3794760"/>
            <a:ext cx="1554480" cy="566928"/>
          </a:xfrm>
          <a:prstGeom prst="roundRect">
            <a:avLst>
              <a:gd name="adj" fmla="val 12903"/>
            </a:avLst>
          </a:prstGeom>
          <a:solidFill>
            <a:srgbClr val="D4A24C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3794760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อาการ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2377440" y="3794760"/>
            <a:ext cx="9144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ซื้อครั้งเดียวแล้วหาย / เงียบเกิน 180 วัน โดยระบบไม่รู้ตัว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0080" y="4453128"/>
            <a:ext cx="1554480" cy="566928"/>
          </a:xfrm>
          <a:prstGeom prst="roundRect">
            <a:avLst>
              <a:gd name="adj" fmla="val 12903"/>
            </a:avLst>
          </a:prstGeom>
          <a:solidFill>
            <a:srgbClr val="D4A24C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4453128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ขนาด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2377440" y="4453128"/>
            <a:ext cx="9144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27.65% (1,618 ราย) · 40.64% (2,378 ราย) · 205 รายในกลุ่มลูกค้าประจำ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40080" y="5111496"/>
            <a:ext cx="1554480" cy="566928"/>
          </a:xfrm>
          <a:prstGeom prst="roundRect">
            <a:avLst>
              <a:gd name="adj" fmla="val 12903"/>
            </a:avLst>
          </a:prstGeom>
          <a:solidFill>
            <a:srgbClr val="D4A24C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5111496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ผลกระทบ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2377440" y="5111496"/>
            <a:ext cx="9144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£813,004 = 4.66% ของยอดขาย + เสียโอกาสรายได้ที่สูงกว่า 11.4 เท่า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40080" y="59436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i="1" dirty="0">
                <a:solidFill>
                  <a:srgbClr val="9AA8D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ทำไมแกนเป็น “ลูกค้าหาย” ไม่ใช่ “การคืนของ”: การคืนสินค้าจริง £726,589 กระจุกอยู่ที่ลูกค้าเพียง 25 ราย แก้ได้ด้วยการคุยกับลูกค้ารายใหญ่ ไม่ต้องใช้ระบบวิเคราะห์ — ส่วนการเงียบหายกระจายทั่วฐานลูกค้า มองด้วยตาไม่เห็น ต้องใช้การวิเคราะห์ข้อมูลถึงจะเจอ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8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100" kern="0" dirty="0">
                <a:solidFill>
                  <a:srgbClr val="D4A24C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B6 · Customer Journey Map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ลูกค้าหลุดตรงไหน และหลุดไปกี่ราย</a:t>
            </a:r>
            <a:endParaRPr lang="en-US" sz="3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463040"/>
          <a:ext cx="11384280" cy="3977640"/>
        </p:xfrm>
        <a:graphic>
          <a:graphicData uri="http://schemas.openxmlformats.org/drawingml/2006/table">
            <a:tbl>
              <a:tblPr/>
              <a:tblGrid>
                <a:gridCol w="1325880"/>
                <a:gridCol w="2011680"/>
                <a:gridCol w="2011680"/>
                <a:gridCol w="2011680"/>
                <a:gridCol w="2011680"/>
                <a:gridCol w="201168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STAGE</a:t>
                      </a:r>
                      <a:endParaRPr lang="en-US" sz="125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1. รู้จัก &amp; สั่งครั้งแรก</a:t>
                      </a:r>
                      <a:endParaRPr lang="en-US" sz="125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2. รับของครั้งแรก</a:t>
                      </a:r>
                      <a:endParaRPr lang="en-US" sz="125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3. กลับมาซื้อซ้ำ</a:t>
                      </a:r>
                      <a:endParaRPr lang="en-US" sz="125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4. คืนของ / มีปัญหา</a:t>
                      </a:r>
                      <a:endParaRPr lang="en-US" sz="125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5. เงียบหาย</a:t>
                      </a:r>
                      <a:endParaRPr lang="en-US" sz="125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2E2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E2761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STEPS</a:t>
                      </a:r>
                      <a:endParaRPr lang="en-US" sz="120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E2761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เลือกสินค้า → สั่งซื้อ</a:t>
                      </a:r>
                      <a:endParaRPr lang="en-US" sz="125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E2761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รับของ → ตรวจของ</a:t>
                      </a:r>
                      <a:endParaRPr lang="en-US" sz="125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E2761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สั่งรอบถัดไป</a:t>
                      </a:r>
                      <a:endParaRPr lang="en-US" sz="125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E2761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(มัธยฐาน 56 วัน)</a:t>
                      </a:r>
                      <a:endParaRPr lang="en-US" sz="125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E2761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แจ้งคืน → ออกใบ C</a:t>
                      </a:r>
                      <a:endParaRPr lang="en-US" sz="125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B3402F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ไม่มีคำสั่งซื้ออีก</a:t>
                      </a:r>
                      <a:endParaRPr lang="en-US" sz="125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E2761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THOUGHTS</a:t>
                      </a:r>
                      <a:endParaRPr lang="en-US" sz="120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E2761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ราคาโอเค ลองสั่งดู</a:t>
                      </a:r>
                      <a:endParaRPr lang="en-US" sz="125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E2761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ของครบมั้ย ตรงรูปมั้ย</a:t>
                      </a:r>
                      <a:endParaRPr lang="en-US" sz="125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E2761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เจ้านี้ใช้ได้ สั่งเพิ่ม</a:t>
                      </a:r>
                      <a:endParaRPr lang="en-US" sz="125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E2761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ของพัง ต้องแจ้งใคร</a:t>
                      </a:r>
                      <a:endParaRPr lang="en-US" sz="125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B3402F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ไม่มีเสียง — ลูกค้าไม่บอกลา</a:t>
                      </a:r>
                      <a:endParaRPr lang="en-US" sz="125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E2761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TOUCHPOINTS</a:t>
                      </a:r>
                      <a:endParaRPr lang="en-US" sz="120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E2761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เว็บ · ใบสั่งซื้อ</a:t>
                      </a:r>
                      <a:endParaRPr lang="en-US" sz="125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E2761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พัสดุ · POSTAGE</a:t>
                      </a:r>
                      <a:endParaRPr lang="en-US" sz="125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E2761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ใบสั่งซื้อรอบใหม่</a:t>
                      </a:r>
                      <a:endParaRPr lang="en-US" sz="125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E2761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ใบลดหนี้ (Invoice C)</a:t>
                      </a:r>
                      <a:endParaRPr lang="en-US" sz="125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B3402F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ไม่มีเลย</a:t>
                      </a:r>
                      <a:endParaRPr lang="en-US" sz="125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E2761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ACTORS</a:t>
                      </a:r>
                      <a:endParaRPr lang="en-US" sz="120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E2761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ลูกค้า · ฝ่ายขาย</a:t>
                      </a:r>
                      <a:endParaRPr lang="en-US" sz="125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E2761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ขนส่ง · คลัง</a:t>
                      </a:r>
                      <a:endParaRPr lang="en-US" sz="125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E2761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ลูกค้า · ฝ่ายขาย</a:t>
                      </a:r>
                      <a:endParaRPr lang="en-US" sz="125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E2761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ฝ่ายบริการ · บัญชี</a:t>
                      </a:r>
                      <a:endParaRPr lang="en-US" sz="125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B3402F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ไม่มีใครรับผิดชอบ</a:t>
                      </a:r>
                      <a:endParaRPr lang="en-US" sz="125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E2761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EMOTIONS</a:t>
                      </a:r>
                      <a:endParaRPr lang="en-US" sz="120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E2761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สนใจ (+)</a:t>
                      </a:r>
                      <a:endParaRPr lang="en-US" sz="125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E2761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เฉย ๆ (0)</a:t>
                      </a:r>
                      <a:endParaRPr lang="en-US" sz="125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E2761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พอใจ (+)</a:t>
                      </a:r>
                      <a:endParaRPr lang="en-US" sz="125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E2761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หงุดหงิด (-)</a:t>
                      </a:r>
                      <a:endParaRPr lang="en-US" sz="125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B3402F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เฉยชา แล้วหายไป (-)</a:t>
                      </a:r>
                      <a:endParaRPr lang="en-US" sz="125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E2761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ที่หลุด</a:t>
                      </a:r>
                      <a:endParaRPr lang="en-US" sz="120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761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ลูกค้าที่มี ID</a:t>
                      </a:r>
                      <a:endParaRPr lang="en-US" sz="125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761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5,852 ราย</a:t>
                      </a:r>
                      <a:endParaRPr lang="en-US" sz="125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5B6B8C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—</a:t>
                      </a:r>
                      <a:endParaRPr lang="en-US" sz="125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B3402F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หลุด 1,618 ราย</a:t>
                      </a:r>
                      <a:endParaRPr lang="en-US" sz="125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B3402F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(27.65%)</a:t>
                      </a:r>
                      <a:endParaRPr lang="en-US" sz="125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761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2,496 ราย (42.65%)</a:t>
                      </a:r>
                      <a:endParaRPr lang="en-US" sz="125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761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เคยคืนของ</a:t>
                      </a:r>
                      <a:endParaRPr lang="en-US" sz="125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B3402F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2,378 ราย (40.64%)</a:t>
                      </a:r>
                      <a:endParaRPr lang="en-US" sz="125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B3402F"/>
                          </a:solidFill>
                          <a:latin typeface="TH Sarabun New" pitchFamily="34" charset="0"/>
                          <a:ea typeface="TH Sarabun New" pitchFamily="34" charset="-122"/>
                          <a:cs typeface="TH Sarabun New" pitchFamily="34" charset="-120"/>
                        </a:rPr>
                        <a:t>เงียบเกิน 180 วัน</a:t>
                      </a:r>
                      <a:endParaRPr lang="en-US" sz="1250" dirty="0">
                        <a:latin typeface="TH Sarabun New" charset="0"/>
                        <a:ea typeface="TH Sarabun New" charset="0"/>
                        <a:cs typeface="TH Sarabun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8E3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11480" y="5577840"/>
            <a:ext cx="11384280" cy="731520"/>
          </a:xfrm>
          <a:prstGeom prst="roundRect">
            <a:avLst>
              <a:gd name="adj" fmla="val 10000"/>
            </a:avLst>
          </a:prstGeom>
          <a:solidFill>
            <a:srgbClr val="FFF4E0"/>
          </a:solidFill>
          <a:ln w="12700">
            <a:solidFill>
              <a:srgbClr val="D4A24C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12648" y="5577840"/>
            <a:ext cx="109819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b="1" dirty="0">
                <a:solidFill>
                  <a:srgbClr val="B3402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หลุดมากที่สุด: stage 2 → 3 </a:t>
            </a:r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1E276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(รับของครั้งแรกแล้วไม่กลับมา 1,618 ราย)   ·   </a:t>
            </a:r>
            <a:pPr indent="0" marL="0">
              <a:lnSpc>
                <a:spcPct val="125000"/>
              </a:lnSpc>
              <a:buNone/>
            </a:pPr>
            <a:r>
              <a:rPr lang="en-US" sz="1350" b="1" dirty="0">
                <a:solidFill>
                  <a:srgbClr val="B3402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แพงที่สุด: stage 5 </a:t>
            </a:r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1E276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ซึ่งไม่มี touchpoint และไม่มีใครรับผิดชอบ — ตรงกับ feedback loop ที่ขาดใน B1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457200" y="6473952"/>
            <a:ext cx="10725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B6B8C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ฟอร์แมตตามภาพตัวอย่างในโจทย์: STAGE → STEPS → THOUGHTS → TOUCHPOINTS → ACTORS → EMOTIONS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9171432" y="647395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8C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G1-B · INT 540 Data Analytics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377440" y="4023360"/>
            <a:ext cx="5120640" cy="5120640"/>
          </a:xfrm>
          <a:prstGeom prst="ellipse">
            <a:avLst/>
          </a:prstGeom>
          <a:solidFill>
            <a:srgbClr val="26348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สรุป B และข้อจำกัดที่ต้องพูดเอง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10881360" cy="1371600"/>
          </a:xfrm>
          <a:prstGeom prst="roundRect">
            <a:avLst>
              <a:gd name="adj" fmla="val 6667"/>
            </a:avLst>
          </a:prstGeom>
          <a:solidFill>
            <a:srgbClr val="263480"/>
          </a:solidFill>
          <a:ln w="12700">
            <a:solidFill>
              <a:srgbClr val="3C4B9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965960"/>
            <a:ext cx="548640" cy="548640"/>
          </a:xfrm>
          <a:prstGeom prst="ellipse">
            <a:avLst/>
          </a:prstGeom>
          <a:solidFill>
            <a:srgbClr val="D4A24C"/>
          </a:solidFill>
          <a:ln/>
          <a:effectLst>
            <a:outerShdw sx="100000" sy="100000" kx="0" ky="0" algn="bl" rotWithShape="0" blurRad="76200" dist="25400" dir="5400000">
              <a:srgbClr val="1E2761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914400" y="19659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691640" y="1719072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4A24C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ข้อจำกัดของข้อมูล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691640" y="2084832"/>
            <a:ext cx="9509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ตัวเลขระดับลูกค้าทั้งหมดคำนวณจากแถวที่มี Customer ID เท่านั้น — Customer ID หาย 22.77% ของแถว คิดเป็น 13.35% ของยอดขาย ดังนั้นครอบคลุม 86.65% ของยอดขาย ไม่ใช่ 100%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3063240"/>
            <a:ext cx="10881360" cy="1371600"/>
          </a:xfrm>
          <a:prstGeom prst="roundRect">
            <a:avLst>
              <a:gd name="adj" fmla="val 6667"/>
            </a:avLst>
          </a:prstGeom>
          <a:solidFill>
            <a:srgbClr val="263480"/>
          </a:solidFill>
          <a:ln w="12700">
            <a:solidFill>
              <a:srgbClr val="3C4B9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3474720"/>
            <a:ext cx="548640" cy="548640"/>
          </a:xfrm>
          <a:prstGeom prst="ellipse">
            <a:avLst/>
          </a:prstGeom>
          <a:solidFill>
            <a:srgbClr val="D4A24C"/>
          </a:solidFill>
          <a:ln/>
          <a:effectLst>
            <a:outerShdw sx="100000" sy="100000" kx="0" ky="0" algn="bl" rotWithShape="0" blurRad="76200" dist="25400" dir="5400000">
              <a:srgbClr val="1E2761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914400" y="34747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691640" y="3227832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4A24C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ส่งต่อให้ G1-C (BSC)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691640" y="3593592"/>
            <a:ext cx="9509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baseline พร้อมใช้: repeat rate 72.35% · one-time 27.65% · silent &gt;180d 40.64% · return rate สินค้าจริง 3.61% · มัธยฐานถึงการซื้อครั้งที่ 2 = 56 วัน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40080" y="4572000"/>
            <a:ext cx="10881360" cy="1371600"/>
          </a:xfrm>
          <a:prstGeom prst="roundRect">
            <a:avLst>
              <a:gd name="adj" fmla="val 6667"/>
            </a:avLst>
          </a:prstGeom>
          <a:solidFill>
            <a:srgbClr val="263480"/>
          </a:solidFill>
          <a:ln w="12700">
            <a:solidFill>
              <a:srgbClr val="3C4B9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14400" y="4983480"/>
            <a:ext cx="548640" cy="548640"/>
          </a:xfrm>
          <a:prstGeom prst="ellipse">
            <a:avLst/>
          </a:prstGeom>
          <a:solidFill>
            <a:srgbClr val="D4A24C"/>
          </a:solidFill>
          <a:ln/>
          <a:effectLst>
            <a:outerShdw sx="100000" sy="100000" kx="0" ky="0" algn="bl" rotWithShape="0" blurRad="76200" dist="25400" dir="5400000">
              <a:srgbClr val="1E2761">
                <a:alpha val="1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914400" y="4983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691640" y="4736592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4A24C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ส่งต่อให้ G1-D4 และ Goal 2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691640" y="5102352"/>
            <a:ext cx="9509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D4 ต้องตัดสินใจ 3 เรื่อง: แถวตัดสต๊อก 3,457 แถว · StockCode ที่ไม่ใช่สินค้าในใบ C £800,079 · แถวไม่มี Customer ID 22.77% — และ G2-D3 ต้องทดสอบว่าการคืนของทำนายการเลิกซื้อได้จริงไหม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57200" y="6473952"/>
            <a:ext cx="10725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895B8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ทุกตัวเลขในเด็คนี้ reproduce ได้: unzip -o data/online_retail_II.csv.zip -d data &amp;&amp; python3 analysis/g1b.py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171432" y="647395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895B8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G1-B · INT 540 Data Analytics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2026-09-10T07:41:14Z</dcterms:created>
  <dcterms:modified xsi:type="dcterms:W3CDTF">2026-09-10T07:41:14Z</dcterms:modified>
</cp:coreProperties>
</file>
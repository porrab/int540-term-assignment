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011680"/>
            <a:ext cx="5943600" cy="5943600"/>
          </a:xfrm>
          <a:prstGeom prst="ellipse">
            <a:avLst/>
          </a:prstGeom>
          <a:solidFill>
            <a:srgbClr val="263480"/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206240"/>
            <a:ext cx="4754880" cy="4754880"/>
          </a:xfrm>
          <a:prstGeom prst="ellipse">
            <a:avLst/>
          </a:prstGeom>
          <a:solidFill>
            <a:srgbClr val="26348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916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TERM ASSIGNMENT · GOAL 1 · G1-B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ปัญหาคืออะไร และรู้ได้ยังไงว่าเป็นปัญหา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Systems Thinking · Pain point จากข้อมูลจริง · Problem Statement · Customer Journey Map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8595360" cy="822960"/>
          </a:xfrm>
          <a:prstGeom prst="roundRect">
            <a:avLst>
              <a:gd name="adj" fmla="val 11111"/>
            </a:avLst>
          </a:prstGeom>
          <a:solidFill>
            <a:srgbClr val="263480"/>
          </a:solidFill>
          <a:ln w="12700">
            <a:solidFill>
              <a:srgbClr val="3C4B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4160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ฐานคำนวณ: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แถวขายจริง 1,037,007 แถว · £20,121,372.19 · ลูกค้าที่ระบุตัวตนได้ 5,852 ราย (86.65% ของยอดขาย)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6080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8D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INT 540 / DSI 121 — Data Analytics for Business Decision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64008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8D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Dataset: Online Retail II (UCI #502) · ทุกตัวเลข reproduce ได้จาก analysis/g1b.py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B1 · Systems Thinking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ระบบขายครบทุกขั้น ยกเว้นขั้นที่บอกว่าลูกค้ากำลังจะหาย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2004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691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50" kern="0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INPUT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4672" y="2103120"/>
            <a:ext cx="2743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คำสั่งซื้อ 53,628 ใบ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สินค้า 4,898 SKU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ลูกค้า UK + 42 ประเทศ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80560" y="1600200"/>
            <a:ext cx="32004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80560" y="1691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50" kern="0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PROCESS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36592" y="2103120"/>
            <a:ext cx="2743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1. รับคำสั่งซื้อ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2. จัดของ / ส่งของ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3. ออกใบแจ้งหนี้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4. รับคืน / ยกเลิก (8,292 ใบ)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412480" y="1600200"/>
            <a:ext cx="32004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12480" y="1691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50" kern="0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OUTPUT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68512" y="2103120"/>
            <a:ext cx="2743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ยอดขาย £20.1M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ลูกค้า 5,852 ราย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คืนของ -£1.53M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ลูกค้าเงียบ 40.64%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8620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→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81812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→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FBE9E7"/>
          </a:solidFill>
          <a:ln w="19050">
            <a:solidFill>
              <a:srgbClr val="B3402F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822960" y="41605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402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❌ FEEDBACK LOOP ที่ขาด — </a:t>
            </a:r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ระบบวัดได้แค่ “ขายได้เท่าไร” แต่ไม่มีขั้นตอนใดป้อนกลับว่า ลูกค้าคนไหนกำลังเงียบ หรือ การคืนของกระจุกที่ใคร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52578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4E0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5257800"/>
            <a:ext cx="106619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เมื่อไม่มี feedback ระบบจึงแก้ตัวเองไม่ได้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— นี่คือรากของ pain point ทั้ง 2 ข้อใน B3/B4 และตรงกับคาบ 13 ส.ค.: ข้อมูลมีอยู่แล้ว แต่ไม่ถูกแปลงเป็น information ที่ใช้ตัดสินใจ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ขอบเขตที่เลือก (B2): customer journey ของลูกค้าที่ซื้อซ้ำ — เส้นเดียวที่พิสูจน์ได้ด้วยข้อมูลทุกจุด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71432" y="6473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G1-B · INT 540 Data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B3 · Pain point ที่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ลูกค้า 27.65% ซื้อครั้งเดียวแล้วไม่กลับมาอีกเลย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645920"/>
            <a:ext cx="2386584" cy="7159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3402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27.65%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295144"/>
            <a:ext cx="242316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ซื้อครั้งเดียว (1,618 ราย)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55448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47288" y="1645920"/>
            <a:ext cx="2386584" cy="7159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3402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24.79%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429000" y="2295144"/>
            <a:ext cx="242316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cohort 12 เดือนยืนยัน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55448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36208" y="1645920"/>
            <a:ext cx="2386584" cy="7159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56 วัน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217920" y="2295144"/>
            <a:ext cx="242316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มัธยฐานถึงการซื้อครั้งที่ 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15400" y="155448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25128" y="1645920"/>
            <a:ext cx="2478024" cy="7159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8A5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11.4×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006840" y="2295144"/>
            <a:ext cx="251460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ลูกค้าซื้อซ้ำสร้างรายได้มากกว่า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17520"/>
          <a:ext cx="6675120" cy="2468880"/>
        </p:xfrm>
        <a:graphic>
          <a:graphicData uri="http://schemas.openxmlformats.org/drawingml/2006/table">
            <a:tbl>
              <a:tblPr/>
              <a:tblGrid>
                <a:gridCol w="2286000"/>
                <a:gridCol w="1280160"/>
                <a:gridCol w="1554480"/>
                <a:gridCol w="155448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จำนวนครั้งที่สั่งซื้อ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ลูกค้า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% ลูกค้า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% ยอดขาย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B3402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1 ครั้ง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1,618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3402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27.65%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3402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3.23%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2 ครั้ง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945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16.15%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4.70%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3 ครั้ง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659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11.26%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4.77%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4–5 ครั้ง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844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14.42%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7.45%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6–10 ครั้ง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922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15.76%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15.18%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B8A5E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11+ ครั้ง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864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B8A5E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14.76%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B8A5E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64.67%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7498080" y="3017520"/>
            <a:ext cx="411480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726680" y="3154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กันข้อโต้แย้งไว้ก่อน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726680" y="3566160"/>
            <a:ext cx="3657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“ลูกค้าที่เพิ่งซื้อปลายปี 2011 ยังไม่ทันกลับมา จะนับว่าหายได้ยังไง”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จึงตัด cohort เฉพาะลูกค้าที่ซื้อครั้งแรกก่อน 9 ธ.ค. 2010 — ทุกคนมีเวลาเต็ม 12 เดือน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จาก 4,284 ราย มี 1,062 ราย (24.79%) ที่ไม่กลับมาเลย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ใกล้เคียง 27.65% → ไม่ใช่ผลจากการตัดช่วงเวลา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57200" y="64739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ที่มา: analysis/g1b.py — ลูกค้าที่ระบุตัวตนได้ 5,852 ราย (86.65% ของยอดขาย)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9171432" y="6473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G1-B · INT 540 Data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B3 · อ่านตัวเลขให้ตรง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เยอะในเชิงจำนวนหัว แต่เล็กในเชิงเงิน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ลูกค้าซื้อครั้งเดียว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B3402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27.65%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 ของจำนวนลูกค้า
</a:t>
            </a:r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3.23%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 ของยอดขาย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217920" y="155448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ลูกค้าสั่ง 11+ ครั้ง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46520" y="210312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14.76%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 ของจำนวนลูกค้า
</a:t>
            </a:r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5B8A5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64.67%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 ของยอดขาย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548640" y="36118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4E0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3611880"/>
            <a:ext cx="106619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B3402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ถ้าแก้ปัญหาลูกค้าซื้อครั้งเดียวได้ทั้งหมด ก็ได้เงินเพิ่มไม่ถึง 4% —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เงินจริงอยู่ที่ลูกค้าประจำ ความเสี่ยงที่แพงที่สุดจึงคือ “ลูกค้าประจำเงียบหาย” ไม่ใช่ “ลูกค้าขาจรไม่กลับมา”</a:t>
            </a:r>
            <a:endParaRPr 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663440"/>
          <a:ext cx="11064240" cy="13716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1828800"/>
                <a:gridCol w="2377440"/>
                <a:gridCol w="3017520"/>
              </a:tblGrid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กลุ่มลูกค้า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จำนวน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% ยอดขาย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เงียบ &gt; 180 วัน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ยอดขายที่กลุ่มเงียบถือครอง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สั่ง 6+ ครั้ง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1,786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79.84%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205 ราย (11.48%)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3402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£813,004  (4.66%)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สั่ง 11+ ครั้ง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864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64.67%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52 ราย (6.02%)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3402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£475,808  (2.73%)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ลูกค้าทั้งหมด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5,852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100%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2,378 ราย (40.64%)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13.49% ของยอดขาย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457200" y="64739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“เงียบ &gt; 180 วัน” ตั้งจากข้อมูลเอง: มัธยฐานถึงการซื้อครั้งที่ 2 = 56 วัน · P75 = 133 วัน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171432" y="6473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G1-B · INT 540 Data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B4 · Pain point ที่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การคืนของ 7.59% เป็นตัวเลขที่ใช้ไม่ได้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BE9E7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ถ้ารายงานแบบตรง ๆ
</a:t>
            </a:r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B3402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-£1,526,667.86  =  7.59%</a:t>
            </a:r>
            <a:pPr indent="0" marL="0">
              <a:lnSpc>
                <a:spcPct val="115000"/>
              </a:lnSpc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ของยอดขาย (ใบ C 8,292 ใบ / 19,494 แถว)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17920" y="155448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EAF5EC"/>
          </a:solidFill>
          <a:ln w="12700">
            <a:solidFill>
              <a:srgbClr val="5B8A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16002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ตัวเลขที่ถูกต้อง — คืนสินค้าจริง
</a:t>
            </a:r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5B8A5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-£726,588.95  =  3.61%</a:t>
            </a:r>
            <a:pPr indent="0" marL="0">
              <a:lnSpc>
                <a:spcPct val="115000"/>
              </a:lnSpc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ของยอดขาย (คิดเป็น 47.59% ของยอดใบ C)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0632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52.41% ของยอดใบ C ไม่ใช่การคืนสินค้าเลย — เป็นรายการบัญชีที่บังเอิญถูกบันทึกเป็นใบ C</a:t>
            </a:r>
            <a:endParaRPr lang="en-US" sz="1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66160"/>
          <a:ext cx="11064240" cy="2103120"/>
        </p:xfrm>
        <a:graphic>
          <a:graphicData uri="http://schemas.openxmlformats.org/drawingml/2006/table">
            <a:tbl>
              <a:tblPr/>
              <a:tblGrid>
                <a:gridCol w="5029200"/>
                <a:gridCol w="2194560"/>
                <a:gridCol w="2103120"/>
                <a:gridCol w="173736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Top 5 รายการที่ถูก “คืน” มากที่สุดตามมูลค่า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StockCode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มูลค่า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ใช่สินค้าไหม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Manual (รายการปรับปรุงด้วยมือ)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M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-£423,512.60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3402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ไม่ใช่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Amazon Fee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AMAZONFEE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-£294,772.71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3402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ไม่ใช่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PAPER CRAFT , LITTLE BIRDIE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23843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-£168,469.60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B8A5E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ใช่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MEDIUM CERAMIC TOP STORAGE JAR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23166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-£77,479.64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B8A5E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ใช่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Bank Charges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BANK CHARGES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-£33,997.91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3402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ไม่ใช่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64739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ประเด็นนี้อยู่บนสไลด์เพราะแสดงว่าทีมอ่านข้อมูลจริง ไม่ได้ groupby แล้วเชื่อผลทันที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171432" y="6473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G1-B · INT 540 Data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B4 · กระจุกตัว และความเข้าใจผิด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การคืนของกระจุกที่คนไม่กี่ราย และไม่ใช่สัญญาณว่าจะเลิกซื้อ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645920"/>
            <a:ext cx="3300984" cy="7424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3402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58.12%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322576"/>
            <a:ext cx="333756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ของมูลค่าการคืน มาจากผู้คืน 1% แรก (25 ราย)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51960" y="155448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61688" y="1645920"/>
            <a:ext cx="3300984" cy="7424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3402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41.92%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343400" y="2322576"/>
            <a:ext cx="333756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มาจาก 10 รายแรกเท่านั้น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55280" y="1554480"/>
            <a:ext cx="36576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65008" y="1645920"/>
            <a:ext cx="3438144" cy="7424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-£431,531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046720" y="2322576"/>
            <a:ext cx="347472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ยอดคืนที่ไม่มี Customer ID (750 แถว) — สอบกลับไม่ได้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06324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3200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“คืนของบ่อย = กำลังจะเลิกซื้อ” ?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77240" y="365760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ลูกค้าซื้อซ้ำ เคยคืนของ    </a:t>
            </a:r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53.80%
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ลูกค้าซื้อครั้งเดียว เคยคืนของ    </a:t>
            </a:r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13.47%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46177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ข้อมูลบอกตรงข้ามกับสัญชาตญาณ — ลูกค้าประจำคืนของบ่อยกว่าเกือบ 4 เท่า เพราะซื้อบ่อยกว่า จึงมีโอกาสคืนมากกว่า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306324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FFF4E0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3200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สิ่งที่ห้ามเขียนบนสไลด์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46520" y="361188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ห้ามสรุปว่า “การคืนของทำนายการเลิกซื้อ” — หลักฐานเบื้องต้นบอกว่าไม่จริง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เก็บไว้เป็นสมมติฐานที่จะทดสอบจริงใน Goal 2 ตอนทำ classification (G2-D3)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อีกเรื่อง: แถว Quantity ติดลบที่ไม่ใช่ใบ C 3,457 แถว มูลค่ารวม £0.00 และ 100% ไม่มี Customer ID → เป็นการตัดสต๊อกของเสีย (damaged, smashed, thrown away) ไม่ใช่การคืนจากลูกค้า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อัตราคืนของ UK 7.71% vs ต่างประเทศ 6.85% — ไม่ต่างกันมาก ปัญหาไม่ได้อยู่ที่ตลาดใดตลาดหนึ่ง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71432" y="6473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G1-B · INT 540 Data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377440"/>
            <a:ext cx="5486400" cy="5486400"/>
          </a:xfrm>
          <a:prstGeom prst="ellipse">
            <a:avLst/>
          </a:prstGeom>
          <a:solidFill>
            <a:srgbClr val="26348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B5 · PROBLEM STATEMENT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10881360" cy="2514600"/>
          </a:xfrm>
          <a:prstGeom prst="roundRect">
            <a:avLst>
              <a:gd name="adj" fmla="val 3636"/>
            </a:avLst>
          </a:prstGeom>
          <a:solidFill>
            <a:srgbClr val="263480"/>
          </a:solidFill>
          <a:ln w="19050">
            <a:solidFill>
              <a:srgbClr val="D4A2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143000"/>
            <a:ext cx="102412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ตลอด 2 ปีของข้อมูล ลูกค้าที่ระบุตัวตนได้ 5,852 ราย มีถึง 27.65% (1,618 ราย) ที่ซื้อเพียงครั้งเดียวแล้วไม่กลับมาอีก และ 40.64% (2,378 ราย) เงียบหายเกิน 180 วัน — ในจำนวนนี้มีลูกค้าประจำที่สั่งซื้อตั้งแต่ 6 ครั้งขึ้นไปรวม 205 ราย ซึ่งถือครองยอดขาย £813,004 (4.66% ของยอดขายจากลูกค้าที่ระบุตัวตนได้) — โดยธุรกิจไม่มีขั้นตอนใดในระบบที่ตรวจจับ การเงียบหายนี้ได้ก่อนที่ลูกค้าจะหายไปแล้ว ทั้งที่ลูกค้าซื้อซ้ำสร้างรายได้เฉลี่ยต่อรายสูงกว่าลูกค้าซื้อครั้งเดียว 11.4 เท่า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" y="379476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D4A24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79476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อาการ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377440" y="3794760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ซื้อครั้งเดียวแล้วหาย / เงียบเกิน 180 วัน โดยระบบไม่รู้ตัว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453128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D4A24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45312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ขนาด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377440" y="4453128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27.65% (1,618 ราย) · 40.64% (2,378 ราย) · 205 รายในกลุ่มลูกค้าประจำ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5111496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D4A24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5111496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ผลกระทบ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377440" y="5111496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£813,004 = 4.66% ของยอดขาย + เสียโอกาสรายได้ที่สูงกว่า 11.4 เท่า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59436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9AA8D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ทำไมแกนเป็น “ลูกค้าหาย” ไม่ใช่ “การคืนของ”: การคืนสินค้าจริง £726,589 กระจุกอยู่ที่ลูกค้าเพียง 25 ราย แก้ได้ด้วยการคุยกับลูกค้ารายใหญ่ ไม่ต้องใช้ระบบวิเคราะห์ — ส่วนการเงียบหายกระจายทั่วฐานลูกค้า มองด้วยตาไม่เห็น ต้องใช้การวิเคราะห์ข้อมูลถึงจะเจอ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B6 · Customer Journey Map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ลูกค้าหลุดตรงไหน และหลุดไปกี่ราย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463040"/>
          <a:ext cx="11384280" cy="3931920"/>
        </p:xfrm>
        <a:graphic>
          <a:graphicData uri="http://schemas.openxmlformats.org/drawingml/2006/table">
            <a:tbl>
              <a:tblPr/>
              <a:tblGrid>
                <a:gridCol w="1234440"/>
                <a:gridCol w="2029968"/>
                <a:gridCol w="2029968"/>
                <a:gridCol w="2029968"/>
                <a:gridCol w="2029968"/>
                <a:gridCol w="2029968"/>
              </a:tblGrid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STAGE</a:t>
                      </a:r>
                      <a:endParaRPr lang="en-US" sz="11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1. รู้จัก &amp; สั่งครั้งแรก</a:t>
                      </a:r>
                      <a:endParaRPr lang="en-US" sz="11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2. รับของครั้งแรก</a:t>
                      </a:r>
                      <a:endParaRPr lang="en-US" sz="11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3. กลับมาซื้อซ้ำ</a:t>
                      </a:r>
                      <a:endParaRPr lang="en-US" sz="11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4. คืนของ / มีปัญหา</a:t>
                      </a:r>
                      <a:endParaRPr lang="en-US" sz="11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D9D2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5. เงียบหาย</a:t>
                      </a:r>
                      <a:endParaRPr lang="en-US" sz="11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2E22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STEPS</a:t>
                      </a:r>
                      <a:endParaRPr lang="en-US" sz="11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เลือกสินค้า → สั่งซื้อ → ออกใบแจ้งหนี้</a:t>
                      </a:r>
                      <a:endParaRPr lang="en-US" sz="10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รับของ → ตรวจของ</a:t>
                      </a:r>
                      <a:endParaRPr lang="en-US" sz="10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สั่งรอบถัดไป (มัธยฐาน 56 วัน)</a:t>
                      </a:r>
                      <a:endParaRPr lang="en-US" sz="10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แจ้งคืน → ออกใบ C → คืนเงิน</a:t>
                      </a:r>
                      <a:endParaRPr lang="en-US" sz="10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3402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ไม่มีคำสั่งซื้ออีก</a:t>
                      </a:r>
                      <a:endParaRPr lang="en-US" sz="10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THOUGHTS</a:t>
                      </a:r>
                      <a:endParaRPr lang="en-US" sz="11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“ราคาโอเค ลองสั่งดูก่อน”</a:t>
                      </a:r>
                      <a:endParaRPr lang="en-US" sz="10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“ของครบมั้ย ตรงรูปมั้ย”</a:t>
                      </a:r>
                      <a:endParaRPr lang="en-US" sz="10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“เจ้านี้ใช้ได้ สั่งเพิ่มเลย”</a:t>
                      </a:r>
                      <a:endParaRPr lang="en-US" sz="10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“ของไม่ครบ/พัง ต้องแจ้งใคร”</a:t>
                      </a:r>
                      <a:endParaRPr lang="en-US" sz="10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3402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(ไม่มีเสียง — ลูกค้าไม่บอกลา)</a:t>
                      </a:r>
                      <a:endParaRPr lang="en-US" sz="10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TOUCHPOINTS</a:t>
                      </a:r>
                      <a:endParaRPr lang="en-US" sz="11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เว็บ / แคตตาล็อก · ใบสั่งซื้อ</a:t>
                      </a:r>
                      <a:endParaRPr lang="en-US" sz="10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พัสดุ · POSTAGE</a:t>
                      </a:r>
                      <a:endParaRPr lang="en-US" sz="10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ใบสั่งซื้อรอบใหม่</a:t>
                      </a:r>
                      <a:endParaRPr lang="en-US" sz="10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ใบลดหนี้ (Invoice C)</a:t>
                      </a:r>
                      <a:endParaRPr lang="en-US" sz="10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3402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❌ ไม่มี touchpoint ใด ๆ</a:t>
                      </a:r>
                      <a:endParaRPr lang="en-US" sz="10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ACTORS</a:t>
                      </a:r>
                      <a:endParaRPr lang="en-US" sz="11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ลูกค้า · ฝ่ายขาย</a:t>
                      </a:r>
                      <a:endParaRPr lang="en-US" sz="10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ขนส่ง · คลัง</a:t>
                      </a:r>
                      <a:endParaRPr lang="en-US" sz="10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ลูกค้า · ฝ่ายขาย</a:t>
                      </a:r>
                      <a:endParaRPr lang="en-US" sz="10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ฝ่ายบริการ · บัญชี</a:t>
                      </a:r>
                      <a:endParaRPr lang="en-US" sz="10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3402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— ไม่มีใครรับผิดชอบ</a:t>
                      </a:r>
                      <a:endParaRPr lang="en-US" sz="10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EMOTIONS</a:t>
                      </a:r>
                      <a:endParaRPr lang="en-US" sz="11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🙂 สนใจ</a:t>
                      </a:r>
                      <a:endParaRPr lang="en-US" sz="10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😐 เฉย ๆ / 🙁 ถ้าของมีปัญหา</a:t>
                      </a:r>
                      <a:endParaRPr lang="en-US" sz="10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🙂 พอใจ</a:t>
                      </a:r>
                      <a:endParaRPr lang="en-US" sz="10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😠 หงุดหงิด → 🙂 ถ้าแก้ได้</a:t>
                      </a:r>
                      <a:endParaRPr lang="en-US" sz="10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3402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😶 เฉยชา แล้วหายไป</a:t>
                      </a:r>
                      <a:endParaRPr lang="en-US" sz="10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📉 ที่หลุด</a:t>
                      </a:r>
                      <a:endParaRPr lang="en-US" sz="11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ลูกค้าที่มี ID 5,852 ราย</a:t>
                      </a:r>
                      <a:endParaRPr lang="en-US" sz="10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—</a:t>
                      </a:r>
                      <a:endParaRPr lang="en-US" sz="10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3402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หลุด 1,618 ราย (27.65%) ไม่กลับมาเลย · cohort ยืนยัน 24.79%</a:t>
                      </a:r>
                      <a:endParaRPr lang="en-US" sz="10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2,496 ราย (42.65%) เคยคืนของ · คืนสินค้าจริง £726,589 (3.61%)</a:t>
                      </a:r>
                      <a:endParaRPr lang="en-US" sz="10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3402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2,378 ราย (40.64%) เงียบเกิน 180 วัน = 13.49% ของยอดขาย</a:t>
                      </a:r>
                      <a:endParaRPr lang="en-US" sz="10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3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11480" y="5532120"/>
            <a:ext cx="11384280" cy="777240"/>
          </a:xfrm>
          <a:prstGeom prst="roundRect">
            <a:avLst>
              <a:gd name="adj" fmla="val 9412"/>
            </a:avLst>
          </a:prstGeom>
          <a:solidFill>
            <a:srgbClr val="FFF4E0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2648" y="5532120"/>
            <a:ext cx="10981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B3402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จุดที่คนหลุดมากที่สุด: stage 2 → 3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(รับของครั้งแรกแล้วไม่กลับมา 1,618 ราย)  ·  </a:t>
            </a:r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B3402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จุดที่แพงที่สุด: stage 5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ซึ่งไม่มี touchpoint และไม่มี actor รับผิดชอบเลย — ตรงกับ feedback loop ที่ขาดใน B1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ฟอร์แมตตามภาพตัวอย่างในโจทย์: STAGE → STEPS → THOUGHTS → TOUCHPOINTS → ACTORS → EMOTIONS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71432" y="6473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G1-B · INT 540 Data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4023360"/>
            <a:ext cx="5120640" cy="5120640"/>
          </a:xfrm>
          <a:prstGeom prst="ellipse">
            <a:avLst/>
          </a:prstGeom>
          <a:solidFill>
            <a:srgbClr val="26348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สรุป B และข้อจำกัดที่ต้องพูดเอง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263480"/>
          </a:solidFill>
          <a:ln w="12700">
            <a:solidFill>
              <a:srgbClr val="3C4B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65960"/>
            <a:ext cx="548640" cy="548640"/>
          </a:xfrm>
          <a:prstGeom prst="ellipse">
            <a:avLst/>
          </a:prstGeom>
          <a:solidFill>
            <a:srgbClr val="D4A24C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91640" y="1719072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ข้อจำกัดของข้อมูล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91640" y="2084832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ตัวเลขระดับลูกค้าทั้งหมดคำนวณจากแถวที่มี Customer ID เท่านั้น — Customer ID หาย 22.77% ของแถว คิดเป็น 13.35% ของยอดขาย ดังนั้นครอบคลุม 86.65% ของยอดขาย ไม่ใช่ 100%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06324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263480"/>
          </a:solidFill>
          <a:ln w="12700">
            <a:solidFill>
              <a:srgbClr val="3C4B9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474720"/>
            <a:ext cx="548640" cy="548640"/>
          </a:xfrm>
          <a:prstGeom prst="ellipse">
            <a:avLst/>
          </a:prstGeom>
          <a:solidFill>
            <a:srgbClr val="D4A24C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91640" y="3227832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ส่งต่อให้ G1-C (BSC)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691640" y="3593592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baseline พร้อมใช้: repeat rate 72.35% · one-time 27.65% · silent &gt;180d 40.64% · return rate สินค้าจริง 3.61% · มัธยฐานถึงการซื้อครั้งที่ 2 = 56 วัน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57200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263480"/>
          </a:solidFill>
          <a:ln w="12700">
            <a:solidFill>
              <a:srgbClr val="3C4B9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983480"/>
            <a:ext cx="548640" cy="548640"/>
          </a:xfrm>
          <a:prstGeom prst="ellipse">
            <a:avLst/>
          </a:prstGeom>
          <a:solidFill>
            <a:srgbClr val="D4A24C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4983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91640" y="4736592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ส่งต่อให้ G1-D4 และ Goal 2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91640" y="5102352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D4 ต้องตัดสินใจ 3 เรื่อง: แถวตัดสต๊อก 3,457 แถว · StockCode ที่ไม่ใช่สินค้าในใบ C £800,079 · แถวไม่มี Customer ID 22.77% — และ G2-D3 ต้องทดสอบว่าการคืนของทำนายการเลิกซื้อได้จริงไหม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5B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ทุกตัวเลขในเด็คนี้ reproduce ได้: unzip -o data/online_retail_II.csv.zip -d data &amp;&amp; python3 analysis/g1b.py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71432" y="6473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5B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G1-B · INT 540 Data Analytics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2026-09-09T12:35:43Z</dcterms:created>
  <dcterms:modified xsi:type="dcterms:W3CDTF">2026-09-09T12:35:43Z</dcterms:modified>
</cp:coreProperties>
</file>
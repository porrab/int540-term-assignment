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2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charts/chart3.xml" ContentType="application/vnd.openxmlformats-officedocument.drawingml.chart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charts/chart4.xml" ContentType="application/vnd.openxmlformats-officedocument.drawingml.chart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notesMasterIdLst>
    <p:notesMasterId r:id="rId2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heme" Target="theme/theme1.xml"/><Relationship Id="rId3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Revenue Share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E2761"/>
              </a:solidFill>
              <a:effectLst/>
            </c:spPr>
          </c:dPt>
          <c:dPt>
            <c:idx val="1"/>
            <c:bubble3D val="0"/>
            <c:spPr>
              <a:solidFill>
                <a:srgbClr val="D4A24C"/>
              </a:solidFill>
              <a:effectLst/>
            </c:spPr>
          </c:dPt>
          <c:dLbls>
            <c:dLbl>
              <c:idx val="0"/>
              <c:numFmt formatCode="0.0&quot;%&quot;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0.0&quot;%&quot;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0.0&quot;%&quot;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United Kingdom</c:v>
                </c:pt>
                <c:pt idx="1">
                  <c:v>ต่างประเทศ (42 ประเทศ)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85.71</c:v>
                </c:pt>
                <c:pt idx="1">
                  <c:v>14.29</c:v>
                </c:pt>
              </c:numCache>
            </c:numRef>
          </c:val>
        </c:ser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1E2761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E2761"/>
                </a:solidFill>
                <a:latin typeface="Arial"/>
              </a:defRPr>
            </a:pPr>
            <a:r>
              <a:rPr sz="1400" b="0" i="0" u="none" strike="noStrike">
                <a:solidFill>
                  <a:srgbClr val="1E2761"/>
                </a:solidFill>
                <a:latin typeface="Arial"/>
              </a:rPr>
              <a:t>สัดส่วนบิลเทียบสัดส่วนยอดขาย (%)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% ของบิล</c:v>
                </c:pt>
              </c:strCache>
            </c:strRef>
          </c:tx>
          <c:spPr>
            <a:solidFill>
              <a:srgbClr val="8FA8E8">
                <a:alpha val="100000"/>
              </a:srgbClr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E2761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ลูกค้าปลีก (≤12 หน่วย)</c:v>
                  </c:pt>
                  <c:pt idx="1">
                    <c:v>ลูกค้าขายส่ง (&gt;12 หน่วย)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7.17</c:v>
                </c:pt>
                <c:pt idx="1">
                  <c:v>92.83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% ของยอดขาย</c:v>
                </c:pt>
              </c:strCache>
            </c:strRef>
          </c:tx>
          <c:spPr>
            <a:solidFill>
              <a:srgbClr val="D4A24C">
                <a:alpha val="100000"/>
              </a:srgbClr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E2761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ลูกค้าปลีก (≤12 หน่วย)</c:v>
                  </c:pt>
                  <c:pt idx="1">
                    <c:v>ลูกค้าขายส่ง (&gt;12 หน่วย)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0.48</c:v>
                </c:pt>
                <c:pt idx="1">
                  <c:v>99.52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1100" u="none">
                  <a:solidFill>
                    <a:srgbClr val="1E2761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E276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2E9F7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8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1E2761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E2761"/>
                </a:solidFill>
                <a:latin typeface="Arial"/>
              </a:defRPr>
            </a:pPr>
            <a:r>
              <a:rPr sz="1300" b="0" i="0" u="none" strike="noStrike">
                <a:solidFill>
                  <a:srgbClr val="1E2761"/>
                </a:solidFill>
                <a:latin typeface="Arial"/>
              </a:rPr>
              <a:t>ยอดขายรายเดือน 2554 (£) — เห็นพีค พ.ย.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ยอดขายรายเดือน (£)</c:v>
                </c:pt>
              </c:strCache>
            </c:strRef>
          </c:tx>
          <c:spPr>
            <a:solidFill>
              <a:srgbClr val="D4A24C"/>
            </a:solidFill>
            <a:ln w="31750" cap="flat">
              <a:solidFill>
                <a:srgbClr val="D4A24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D4A24C"/>
              </a:solidFill>
              <a:ln w="9525" cap="flat">
                <a:solidFill>
                  <a:srgbClr val="D4A24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ม.ค.11</c:v>
                  </c:pt>
                  <c:pt idx="1">
                    <c:v>ก.พ.11</c:v>
                  </c:pt>
                  <c:pt idx="2">
                    <c:v>มี.ค.11</c:v>
                  </c:pt>
                  <c:pt idx="3">
                    <c:v>เม.ย.11</c:v>
                  </c:pt>
                  <c:pt idx="4">
                    <c:v>พ.ค.11</c:v>
                  </c:pt>
                  <c:pt idx="5">
                    <c:v>มิ.ย.11</c:v>
                  </c:pt>
                  <c:pt idx="6">
                    <c:v>ก.ค.11</c:v>
                  </c:pt>
                  <c:pt idx="7">
                    <c:v>ส.ค.11</c:v>
                  </c:pt>
                  <c:pt idx="8">
                    <c:v>ก.ย.11</c:v>
                  </c:pt>
                  <c:pt idx="9">
                    <c:v>ต.ค.11</c:v>
                  </c:pt>
                  <c:pt idx="10">
                    <c:v>พ.ย.11</c:v>
                  </c:pt>
                  <c:pt idx="11">
                    <c:v>ธ.ค.11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671933</c:v>
                </c:pt>
                <c:pt idx="1">
                  <c:v>508886</c:v>
                </c:pt>
                <c:pt idx="2">
                  <c:v>691258</c:v>
                </c:pt>
                <c:pt idx="3">
                  <c:v>516218</c:v>
                </c:pt>
                <c:pt idx="4">
                  <c:v>741192</c:v>
                </c:pt>
                <c:pt idx="5">
                  <c:v>738752</c:v>
                </c:pt>
                <c:pt idx="6">
                  <c:v>689364</c:v>
                </c:pt>
                <c:pt idx="7">
                  <c:v>736576</c:v>
                </c:pt>
                <c:pt idx="8">
                  <c:v>1030475</c:v>
                </c:pt>
                <c:pt idx="9">
                  <c:v>1106670</c:v>
                </c:pt>
                <c:pt idx="10">
                  <c:v>1457746</c:v>
                </c:pt>
                <c:pt idx="11">
                  <c:v>615493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1E276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2E9F7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6B8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Revenue Share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E2761"/>
              </a:solidFill>
              <a:effectLst/>
            </c:spPr>
          </c:dPt>
          <c:dPt>
            <c:idx val="1"/>
            <c:bubble3D val="0"/>
            <c:spPr>
              <a:solidFill>
                <a:srgbClr val="D4A24C"/>
              </a:solidFill>
              <a:effectLst/>
            </c:spPr>
          </c:dPt>
          <c:dLbls>
            <c:dLbl>
              <c:idx val="0"/>
              <c:numFmt formatCode="0.0&quot;%&quot;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0.0&quot;%&quot;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0.0&quot;%&quot;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United Kingdom</c:v>
                </c:pt>
                <c:pt idx="1">
                  <c:v>ต่างประเทศ (42 ประเทศ)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85.71</c:v>
                </c:pt>
                <c:pt idx="1">
                  <c:v>14.29</c:v>
                </c:pt>
              </c:numCache>
            </c:numRef>
          </c:val>
        </c:ser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1E2761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-2011680"/>
            <a:ext cx="5943600" cy="5943600"/>
          </a:xfrm>
          <a:prstGeom prst="ellipse">
            <a:avLst/>
          </a:prstGeom>
          <a:solidFill>
            <a:srgbClr val="263480"/>
          </a:solidFill>
          <a:ln/>
        </p:spPr>
      </p:sp>
      <p:sp>
        <p:nvSpPr>
          <p:cNvPr id="3" name="Shape 1"/>
          <p:cNvSpPr/>
          <p:nvPr/>
        </p:nvSpPr>
        <p:spPr>
          <a:xfrm>
            <a:off x="-2194560" y="4206240"/>
            <a:ext cx="4754880" cy="4754880"/>
          </a:xfrm>
          <a:prstGeom prst="ellipse">
            <a:avLst/>
          </a:prstGeom>
          <a:solidFill>
            <a:srgbClr val="263480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60020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D4A24C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TERM ASSIGNMENT · GOAL 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22960" y="205740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Identify Business Problems, Data and Prospective Solution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822960" y="3063240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ADCFC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A: บริษัท+กลยุทธ์ · B: ปัญหาจากข้อมูลจริง · C: Balanced Scorecard · D: ข้อมูล+Data Model+SQL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822960" y="3977640"/>
            <a:ext cx="9692640" cy="822960"/>
          </a:xfrm>
          <a:prstGeom prst="roundRect">
            <a:avLst>
              <a:gd name="adj" fmla="val 11111"/>
            </a:avLst>
          </a:prstGeom>
          <a:solidFill>
            <a:srgbClr val="263480"/>
          </a:solidFill>
          <a:ln w="12700">
            <a:solidFill>
              <a:srgbClr val="3C4B9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51560" y="3977640"/>
            <a:ext cx="9326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D4A24C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Dataset: </a:t>
            </a:r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Online Retail II — UCI ML Repository #502  ·  1,067,371 แถว  ·  2009-12-01 ถึง 2011-12-09  ·  ฐานคำนวณ 1,037,007 แถว £20,121,372.19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822960" y="5074920"/>
            <a:ext cx="457200" cy="457200"/>
          </a:xfrm>
          <a:prstGeom prst="ellipse">
            <a:avLst/>
          </a:prstGeom>
          <a:solidFill>
            <a:srgbClr val="D4A24C"/>
          </a:solidFill>
          <a:ln/>
          <a:effectLst>
            <a:outerShdw sx="100000" sy="100000" kx="0" ky="0" algn="bl" rotWithShape="0" blurRad="76200" dist="25400" dir="5400000">
              <a:srgbClr val="1E2761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22960" y="5074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A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02920" y="557784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เลือกบริษัทและวิจัยกลยุทธ์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429000" y="5074920"/>
            <a:ext cx="457200" cy="457200"/>
          </a:xfrm>
          <a:prstGeom prst="ellipse">
            <a:avLst/>
          </a:prstGeom>
          <a:solidFill>
            <a:srgbClr val="D4A24C"/>
          </a:solidFill>
          <a:ln/>
          <a:effectLst>
            <a:outerShdw sx="100000" sy="100000" kx="0" ky="0" algn="bl" rotWithShape="0" blurRad="76200" dist="25400" dir="5400000">
              <a:srgbClr val="1E2761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429000" y="5074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B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108960" y="557784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Systems Thinking → Problem Statement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035040" y="5074920"/>
            <a:ext cx="457200" cy="457200"/>
          </a:xfrm>
          <a:prstGeom prst="ellipse">
            <a:avLst/>
          </a:prstGeom>
          <a:solidFill>
            <a:srgbClr val="D4A24C"/>
          </a:solidFill>
          <a:ln/>
          <a:effectLst>
            <a:outerShdw sx="100000" sy="100000" kx="0" ky="0" algn="bl" rotWithShape="0" blurRad="76200" dist="25400" dir="5400000">
              <a:srgbClr val="1E2761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035040" y="5074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C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5715000" y="557784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Balanced Scorecard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641080" y="5074920"/>
            <a:ext cx="457200" cy="457200"/>
          </a:xfrm>
          <a:prstGeom prst="ellipse">
            <a:avLst/>
          </a:prstGeom>
          <a:solidFill>
            <a:srgbClr val="D4A24C"/>
          </a:solidFill>
          <a:ln/>
          <a:effectLst>
            <a:outerShdw sx="100000" sy="100000" kx="0" ky="0" algn="bl" rotWithShape="0" blurRad="76200" dist="25400" dir="5400000">
              <a:srgbClr val="1E2761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8641080" y="5074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D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8321040" y="557784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EDA + Data Model + SQL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22960" y="6446520"/>
            <a:ext cx="1024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AA8D6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INT 540 / DSI 121 — Data Analytics for Business Decision · นำเสนอ 1 ต.ค. 2569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2194560"/>
            <a:ext cx="5669280" cy="5669280"/>
          </a:xfrm>
          <a:prstGeom prst="ellipse">
            <a:avLst/>
          </a:prstGeom>
          <a:solidFill>
            <a:srgbClr val="263480"/>
          </a:solidFill>
          <a:ln/>
        </p:spPr>
      </p:sp>
      <p:sp>
        <p:nvSpPr>
          <p:cNvPr id="3" name="Shape 1"/>
          <p:cNvSpPr/>
          <p:nvPr/>
        </p:nvSpPr>
        <p:spPr>
          <a:xfrm>
            <a:off x="-2286000" y="4389120"/>
            <a:ext cx="4937760" cy="4937760"/>
          </a:xfrm>
          <a:prstGeom prst="ellipse">
            <a:avLst/>
          </a:prstGeom>
          <a:solidFill>
            <a:srgbClr val="263480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65176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D4A24C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ส่วนที่ 1 · G1-A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22960" y="3108960"/>
            <a:ext cx="10515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เลือกบริษัทและวิจัยกลยุทธ์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822960" y="4114800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ADCFC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โปรไฟล์บริษัทจากข้อมูลจริง · Five Forces / TOWS / Value Chain · การแบ่งกลุ่มลูกค้า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8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100" kern="0" dirty="0">
                <a:solidFill>
                  <a:srgbClr val="D4A24C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A1 · โปรไฟล์บริษัท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ร้านค้าออนไลน์ขายของขวัญสัญชาติอังกฤษ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60350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1E2761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บริษัทสมมติที่สร้างจาก dataset: ร้านค้าออนไลน์ขายของขวัญ/ของแต่งบ้านแบบ all-occasion gift-ware ไม่มีหน้าร้าน (non-store retailer) ขายทั้งลูกค้าปลีก (ซื้อเป็นของขวัญ) และลูกค้าขายส่ง (ร้านค้าย่อย/ผู้จัดจำหน่ายซื้อไปขายต่อ) ฐานลูกค้าหลักอยู่ในสหราชอาณาจักร แต่ส่งขายไปทั่วยุโรปและอีกหลายทวีป ช่วงข้อมูลครอบคลุมเทศกาลคริสต์มาส 2 รอบ ซึ่งเป็นช่วงพีคตามธรรมชาติของธุรกิจของขวัญ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903720" y="1554480"/>
            <a:ext cx="457200" cy="457200"/>
          </a:xfrm>
          <a:prstGeom prst="ellipse">
            <a:avLst/>
          </a:prstGeom>
          <a:solidFill>
            <a:srgbClr val="D4A24C"/>
          </a:solidFill>
          <a:ln/>
          <a:effectLst>
            <a:outerShdw sx="100000" sy="100000" kx="0" ky="0" algn="bl" rotWithShape="0" blurRad="76200" dist="25400" dir="5400000">
              <a:srgbClr val="1E2761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903720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498080" y="1508760"/>
            <a:ext cx="4206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1E2761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Non-store retailer — ขายออนไลน์ล้วน ไม่มีหน้าร้านจริง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903720" y="2331720"/>
            <a:ext cx="457200" cy="457200"/>
          </a:xfrm>
          <a:prstGeom prst="ellipse">
            <a:avLst/>
          </a:prstGeom>
          <a:solidFill>
            <a:srgbClr val="D4A24C"/>
          </a:solidFill>
          <a:ln/>
          <a:effectLst>
            <a:outerShdw sx="100000" sy="100000" kx="0" ky="0" algn="bl" rotWithShape="0" blurRad="76200" dist="25400" dir="5400000">
              <a:srgbClr val="1E2761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903720" y="2331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2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498080" y="2286000"/>
            <a:ext cx="4206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1E2761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All-occasion gift-ware — สินค้าของขวัญ/ของแต่งบ้านหลากหลาย SKU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6903720" y="3108960"/>
            <a:ext cx="457200" cy="457200"/>
          </a:xfrm>
          <a:prstGeom prst="ellipse">
            <a:avLst/>
          </a:prstGeom>
          <a:solidFill>
            <a:srgbClr val="D4A24C"/>
          </a:solidFill>
          <a:ln/>
          <a:effectLst>
            <a:outerShdw sx="100000" sy="100000" kx="0" ky="0" algn="bl" rotWithShape="0" blurRad="76200" dist="25400" dir="5400000">
              <a:srgbClr val="1E2761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903720" y="3108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3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498080" y="3063240"/>
            <a:ext cx="4206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1E2761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Dual channel — ลูกค้าปลีกรายย่อย + ลูกค้าขายส่ง (wholesaler) ในฐานเดียวกัน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6903720" y="3886200"/>
            <a:ext cx="457200" cy="457200"/>
          </a:xfrm>
          <a:prstGeom prst="ellipse">
            <a:avLst/>
          </a:prstGeom>
          <a:solidFill>
            <a:srgbClr val="D4A24C"/>
          </a:solidFill>
          <a:ln/>
          <a:effectLst>
            <a:outerShdw sx="100000" sy="100000" kx="0" ky="0" algn="bl" rotWithShape="0" blurRad="76200" dist="25400" dir="5400000">
              <a:srgbClr val="1E2761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903720" y="3886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4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7498080" y="3840480"/>
            <a:ext cx="4206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1E2761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UK-centric แต่ international — ขายในและนอกสหราชอาณาจักร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548640" y="4617720"/>
            <a:ext cx="6035040" cy="1417320"/>
          </a:xfrm>
          <a:prstGeom prst="roundRect">
            <a:avLst>
              <a:gd name="adj" fmla="val 5161"/>
            </a:avLst>
          </a:prstGeom>
          <a:solidFill>
            <a:srgbClr val="1E2761"/>
          </a:solidFill>
          <a:ln/>
          <a:effectLst>
            <a:outerShdw sx="100000" sy="100000" kx="0" ky="0" algn="bl" rotWithShape="0" blurRad="76200" dist="25400" dir="5400000">
              <a:srgbClr val="1E2761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77240" y="4617720"/>
            <a:ext cx="55778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50" b="1" dirty="0">
                <a:solidFill>
                  <a:srgbClr val="D4A24C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ทำไมต้องเลือกบริษัทแบบนี้:  </a:t>
            </a:r>
            <a:pPr algn="l"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dataset มีตัวเลขธุรกรรมจริงครบทุกด้าน (ราคา ปริมาณ ประเทศ วันที่ ลูกค้า) พอสำหรับพิสูจน์โปรไฟล์และวางกลยุทธ์ด้วยหลักฐาน ไม่ใช่การเดา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457200" y="6473952"/>
            <a:ext cx="10725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B6B8C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A1 — Company Profile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9171432" y="647395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B8C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G1-A · INT 540 Data Analytics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8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100" kern="0" dirty="0">
                <a:solidFill>
                  <a:srgbClr val="D4A24C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A2 · พิสูจน์โปรไฟล์ด้วยตัวเลขจริง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ตัวเลขจากไฟล์ข้อมูล ไม่ใช่การอ้างลอย ๆ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2450592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E2761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58368" y="1600200"/>
            <a:ext cx="2231136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D4A24C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£20.12M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40080" y="2194560"/>
            <a:ext cx="2267712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B8C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ยอดขายรวม (สุทธิ)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163824" y="1508760"/>
            <a:ext cx="2450592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E2761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273552" y="1600200"/>
            <a:ext cx="2231136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D4A24C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5,852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3255264" y="2194560"/>
            <a:ext cx="2267712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B8C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ลูกค้าที่รู้ตัวตน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779008" y="1508760"/>
            <a:ext cx="2450592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E2761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888736" y="1600200"/>
            <a:ext cx="2231136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D4A24C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4,898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5870448" y="2194560"/>
            <a:ext cx="2267712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B8C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SKU ที่ขายจริง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394192" y="1508760"/>
            <a:ext cx="2450592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E2761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503920" y="1600200"/>
            <a:ext cx="2231136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D4A24C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43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8485632" y="2194560"/>
            <a:ext cx="2267712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B8C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ประเทศที่มีคำสั่งซื้อ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48640" y="288036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สัดส่วนยอดขาย: UK vs ต่างประเทศ</a:t>
            </a:r>
            <a:endParaRPr lang="en-US" sz="1600" dirty="0"/>
          </a:p>
        </p:txBody>
      </p:sp>
      <p:graphicFrame>
        <p:nvGraphicFramePr>
          <p:cNvPr id="17" name="Chart 0" descr=""/>
          <p:cNvGraphicFramePr/>
          <p:nvPr/>
        </p:nvGraphicFramePr>
        <p:xfrm>
          <a:off x="457200" y="3246120"/>
          <a:ext cx="5303520" cy="3063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8" name="Text 15"/>
          <p:cNvSpPr/>
          <p:nvPr/>
        </p:nvSpPr>
        <p:spPr>
          <a:xfrm>
            <a:off x="6126480" y="28803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ยอดขาย 5 ตลาดต่างประเทศสูงสุด (£)</a:t>
            </a:r>
            <a:endParaRPr lang="en-US" sz="16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26480" y="3291840"/>
          <a:ext cx="5486400" cy="2468880"/>
        </p:xfrm>
        <a:graphic>
          <a:graphicData uri="http://schemas.openxmlformats.org/drawingml/2006/table">
            <a:tbl>
              <a:tblPr/>
              <a:tblGrid>
                <a:gridCol w="3383280"/>
                <a:gridCol w="210312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ประเทศ</a:t>
                      </a:r>
                      <a:endParaRPr lang="en-US" sz="13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ยอดขาย (£)</a:t>
                      </a:r>
                      <a:endParaRPr lang="en-US" sz="13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761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EIRE (ไอร์แลนด์)</a:t>
                      </a:r>
                      <a:endParaRPr lang="en-US" sz="13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E2761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628,928.63</a:t>
                      </a:r>
                      <a:endParaRPr lang="en-US" sz="13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761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Netherlands</a:t>
                      </a:r>
                      <a:endParaRPr lang="en-US" sz="13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E2761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549,952.66</a:t>
                      </a:r>
                      <a:endParaRPr lang="en-US" sz="13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C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761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Germany</a:t>
                      </a:r>
                      <a:endParaRPr lang="en-US" sz="13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E2761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388,829.75</a:t>
                      </a:r>
                      <a:endParaRPr lang="en-US" sz="13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761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France</a:t>
                      </a:r>
                      <a:endParaRPr lang="en-US" sz="13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E2761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316,948.80</a:t>
                      </a:r>
                      <a:endParaRPr lang="en-US" sz="13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C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761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Australia</a:t>
                      </a:r>
                      <a:endParaRPr lang="en-US" sz="13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E2761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168,484.66</a:t>
                      </a:r>
                      <a:endParaRPr lang="en-US" sz="13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0" name="Text 16"/>
          <p:cNvSpPr/>
          <p:nvPr/>
        </p:nvSpPr>
        <p:spPr>
          <a:xfrm>
            <a:off x="6126480" y="585216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B8C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หมายเหตุ: ฐานคำนวณ = ตัดแถวยกเลิก + Quantity/Price ≤ 0 + StockCode ที่ไม่ใช่สินค้าจริงออก (ดู G1-D1–D3)</a:t>
            </a:r>
            <a:endParaRPr lang="en-US" sz="1100" dirty="0"/>
          </a:p>
        </p:txBody>
      </p:sp>
      <p:sp>
        <p:nvSpPr>
          <p:cNvPr id="21" name="Text 17"/>
          <p:cNvSpPr/>
          <p:nvPr/>
        </p:nvSpPr>
        <p:spPr>
          <a:xfrm>
            <a:off x="457200" y="6473952"/>
            <a:ext cx="10725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B6B8C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A2 — Evidence Numbers</a:t>
            </a:r>
            <a:endParaRPr lang="en-US" sz="1100" dirty="0"/>
          </a:p>
        </p:txBody>
      </p:sp>
      <p:sp>
        <p:nvSpPr>
          <p:cNvPr id="22" name="Text 18"/>
          <p:cNvSpPr/>
          <p:nvPr/>
        </p:nvSpPr>
        <p:spPr>
          <a:xfrm>
            <a:off x="9171432" y="647395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B8C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G1-A · INT 540 Data Analytics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8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100" kern="0" dirty="0">
                <a:solidFill>
                  <a:srgbClr val="D4A24C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A3 · ระบุกลยุทธ์ธุรกิจ (1/2)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Five Forces → เลือก Competitive Strategy</a:t>
            </a:r>
            <a:endParaRPr lang="en-US" sz="30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7315200" cy="3566160"/>
        </p:xfrm>
        <a:graphic>
          <a:graphicData uri="http://schemas.openxmlformats.org/drawingml/2006/table">
            <a:tbl>
              <a:tblPr/>
              <a:tblGrid>
                <a:gridCol w="1920240"/>
                <a:gridCol w="1005840"/>
                <a:gridCol w="4389120"/>
              </a:tblGrid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แรงกดดัน</a:t>
                      </a:r>
                      <a:endParaRPr lang="en-US" sz="13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ระดับ</a:t>
                      </a:r>
                      <a:endParaRPr lang="en-US" sz="13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อ่านจาก dataset</a:t>
                      </a:r>
                      <a:endParaRPr lang="en-US" sz="13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E2761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Buyer Power</a:t>
                      </a:r>
                      <a:endParaRPr lang="en-US" sz="125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B98A2E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กลาง–สูง</a:t>
                      </a:r>
                      <a:endParaRPr lang="en-US" sz="125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B6B8C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ลูกค้ากระจายตัวมาก (5,852 ราย) แต่ switching cost ต่ำในตลาดของขวัญออนไลน์</a:t>
                      </a:r>
                      <a:endParaRPr lang="en-US" sz="12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E2761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Supplier Power</a:t>
                      </a:r>
                      <a:endParaRPr lang="en-US" sz="125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5B8A5E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ต่ำ–กลาง</a:t>
                      </a:r>
                      <a:endParaRPr lang="en-US" sz="125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B6B8C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ไม่มีข้อมูลซัพพลายเออร์ในไฟล์ แต่สินค้าทั่วไปน่าจะมีซัพพลายเออร์ทดแทนได้หลายราย</a:t>
                      </a:r>
                      <a:endParaRPr lang="en-US" sz="12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C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E2761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Threat of Substitutes</a:t>
                      </a:r>
                      <a:endParaRPr lang="en-US" sz="125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B3402F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สูง</a:t>
                      </a:r>
                      <a:endParaRPr lang="en-US" sz="125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B6B8C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ของขวัญซื้อได้จากร้านค้าปลีก ห้างสรรพสินค้า และแพลตฟอร์มอีคอมเมิร์ซอื่น</a:t>
                      </a:r>
                      <a:endParaRPr lang="en-US" sz="12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E2761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Threat of New Entrants</a:t>
                      </a:r>
                      <a:endParaRPr lang="en-US" sz="125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B3402F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สูง</a:t>
                      </a:r>
                      <a:endParaRPr lang="en-US" sz="125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B6B8C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ธุรกิจ non-store retail มี entry barrier ต่ำ ไม่ต้องมีหน้าร้าน</a:t>
                      </a:r>
                      <a:endParaRPr lang="en-US" sz="12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C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E2761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Rivalry</a:t>
                      </a:r>
                      <a:endParaRPr lang="en-US" sz="125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B3402F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สูง</a:t>
                      </a:r>
                      <a:endParaRPr lang="en-US" sz="125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B6B8C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คู่แข่งจำนวนมาก สินค้า/SKU คล้ายกันทำได้ง่าย</a:t>
                      </a:r>
                      <a:endParaRPr lang="en-US" sz="12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8138160" y="1508760"/>
            <a:ext cx="3520440" cy="3566160"/>
          </a:xfrm>
          <a:prstGeom prst="roundRect">
            <a:avLst>
              <a:gd name="adj" fmla="val 2078"/>
            </a:avLst>
          </a:prstGeom>
          <a:solidFill>
            <a:srgbClr val="1E2761"/>
          </a:solidFill>
          <a:ln/>
          <a:effectLst>
            <a:outerShdw sx="100000" sy="100000" kx="0" ky="0" algn="bl" rotWithShape="0" blurRad="76200" dist="25400" dir="5400000">
              <a:srgbClr val="1E2761">
                <a:alpha val="18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8366760" y="16916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D4A24C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กลยุทธ์ที่เลือก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8366760" y="201168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Cost Leadership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8366760" y="25146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+ Differentiation เสริม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8366760" y="3017520"/>
            <a:ext cx="31089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Broad market + บิลขนาดใหญ่ (&gt;12 หน่วย) สร้างรายได้ถึง 99.52% → เน้นต้นทุนต่ำเป็นแกน โดยมี SKU ดีไซน์เฉพาะตัวเสริมสำหรับกลุ่มปลีกที่จ่ายต่อหน่วยสูงกว่า (ดู A4)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457200" y="6473952"/>
            <a:ext cx="10725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B6B8C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A3 — Five Forces &amp; Strategy Choice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9171432" y="647395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B8C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G1-A · INT 540 Data Analytics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8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100" kern="0" dirty="0">
                <a:solidFill>
                  <a:srgbClr val="D4A24C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A3 · ระบุกลยุทธ์ธุรกิจ (2/2)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TOWS ที่ผูกกับตัวเลขจริง + Value Chain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TOWS — ตัวอย่าง 2 คู่ที่ผูกกับตัวเลขจริง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54864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D7E1F5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49808" y="2011680"/>
            <a:ext cx="502920" cy="502920"/>
          </a:xfrm>
          <a:prstGeom prst="ellipse">
            <a:avLst/>
          </a:prstGeom>
          <a:solidFill>
            <a:srgbClr val="5B8A5E"/>
          </a:solidFill>
          <a:ln/>
        </p:spPr>
      </p:sp>
      <p:sp>
        <p:nvSpPr>
          <p:cNvPr id="7" name="Text 5"/>
          <p:cNvSpPr/>
          <p:nvPr/>
        </p:nvSpPr>
        <p:spPr>
          <a:xfrm>
            <a:off x="749808" y="2011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SO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417320" y="1993392"/>
            <a:ext cx="4434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Strength × Opportunity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749808" y="2606040"/>
            <a:ext cx="5120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B6B8C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ใช้ SKU ที่กว้าง (4,898 รายการ) จับโอกาสตามฤดูกาล — ข้อมูลครอบคลุม 2 เทศกาลคริสต์มาสเต็ม จึงควรทำ seasonal bundle/promotion ล่วงหน้าให้ตรงพีค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3749040"/>
            <a:ext cx="54864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D7E1F5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49808" y="3931920"/>
            <a:ext cx="502920" cy="502920"/>
          </a:xfrm>
          <a:prstGeom prst="ellipse">
            <a:avLst/>
          </a:prstGeom>
          <a:solidFill>
            <a:srgbClr val="B3402F"/>
          </a:solidFill>
          <a:ln/>
        </p:spPr>
      </p:sp>
      <p:sp>
        <p:nvSpPr>
          <p:cNvPr id="12" name="Text 10"/>
          <p:cNvSpPr/>
          <p:nvPr/>
        </p:nvSpPr>
        <p:spPr>
          <a:xfrm>
            <a:off x="749808" y="3931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WT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417320" y="3913632"/>
            <a:ext cx="4434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Weakness × Threat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749808" y="4526280"/>
            <a:ext cx="5120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B6B8C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ลูกค้าที่ซื้อครั้งเดียวแล้วหายสูงถึง 27.65% ขณะที่ threat of substitutes/new entrants สูง → ต้องมีกลยุทธ์ retention ก่อนคู่แข่งแย่งลูกค้ากลุ่มนี้ (ผูกต่อ G1-B)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355080" y="146304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Value Chain (Porter) — ข้อมูลครอบคลุมตรงไหนบ้าง</a:t>
            </a:r>
            <a:endParaRPr lang="en-US" sz="15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55080" y="1828800"/>
          <a:ext cx="5303520" cy="2103120"/>
        </p:xfrm>
        <a:graphic>
          <a:graphicData uri="http://schemas.openxmlformats.org/drawingml/2006/table">
            <a:tbl>
              <a:tblPr/>
              <a:tblGrid>
                <a:gridCol w="3657600"/>
                <a:gridCol w="164592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กิจกรรม</a:t>
                      </a:r>
                      <a:endParaRPr lang="en-US" sz="125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มีข้อมูลใน dataset?</a:t>
                      </a:r>
                      <a:endParaRPr lang="en-US" sz="125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Outbound Logistics (Invoice/InvoiceDate)</a:t>
                      </a:r>
                      <a:endParaRPr lang="en-US" sz="12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E7D32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✓ มี</a:t>
                      </a:r>
                      <a:endParaRPr lang="en-US" sz="12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C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Marketing &amp; Sales (Price/Qty/Country)</a:t>
                      </a:r>
                      <a:endParaRPr lang="en-US" sz="12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E7D32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✓ มี</a:t>
                      </a:r>
                      <a:endParaRPr lang="en-US" sz="12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C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Inbound Logistics (จัดซื้อเข้าคลัง)</a:t>
                      </a:r>
                      <a:endParaRPr lang="en-US" sz="12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E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B3402F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✗ ไม่มี</a:t>
                      </a:r>
                      <a:endParaRPr lang="en-US" sz="12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EEC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Operations (ผลิต/แพ็กสินค้า)</a:t>
                      </a:r>
                      <a:endParaRPr lang="en-US" sz="12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E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B3402F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✗ ไม่มี</a:t>
                      </a:r>
                      <a:endParaRPr lang="en-US" sz="12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EEC"/>
                    </a:solidFill>
                  </a:tcPr>
                </a:tc>
              </a:tr>
            </a:tbl>
          </a:graphicData>
        </a:graphic>
      </p:graphicFrame>
      <p:sp>
        <p:nvSpPr>
          <p:cNvPr id="17" name="Shape 14"/>
          <p:cNvSpPr/>
          <p:nvPr/>
        </p:nvSpPr>
        <p:spPr>
          <a:xfrm>
            <a:off x="6355080" y="4160520"/>
            <a:ext cx="5303520" cy="1371600"/>
          </a:xfrm>
          <a:prstGeom prst="roundRect">
            <a:avLst>
              <a:gd name="adj" fmla="val 5333"/>
            </a:avLst>
          </a:prstGeom>
          <a:solidFill>
            <a:srgbClr val="EAF0FC"/>
          </a:solidFill>
          <a:ln/>
        </p:spPr>
      </p:sp>
      <p:sp>
        <p:nvSpPr>
          <p:cNvPr id="18" name="Text 15"/>
          <p:cNvSpPr/>
          <p:nvPr/>
        </p:nvSpPr>
        <p:spPr>
          <a:xfrm>
            <a:off x="6583680" y="4160520"/>
            <a:ext cx="4846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b="1" dirty="0">
                <a:solidFill>
                  <a:srgbClr val="1E2761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ข้อจำกัดที่ต้องพูดตรง ๆ ตอนนำเสนอ: </a:t>
            </a:r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1E2761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dataset ไม่มีข้อมูลต้นทุน/การผลิต — Inbound Logistics และ Operations ประเมินไม่ได้จากไฟล์นี้ ไม่ใช่การสมมติขึ้นมา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457200" y="6473952"/>
            <a:ext cx="10725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B6B8C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A3 — TOWS &amp; Value Chain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9171432" y="647395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B8C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G1-A · INT 540 Data Analytics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8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100" kern="0" dirty="0">
                <a:solidFill>
                  <a:srgbClr val="D4A24C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A4 · ลูกค้าสองกลุ่มจากขนาดตะกร้า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เกณฑ์: 12 หน่วยต่อบิล (1 โหล — ขั้นต่ำการขายส่งทั่วไป)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554480"/>
          <a:ext cx="6492240" cy="4160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178040" y="1554480"/>
          <a:ext cx="4480560" cy="1417320"/>
        </p:xfrm>
        <a:graphic>
          <a:graphicData uri="http://schemas.openxmlformats.org/drawingml/2006/table">
            <a:tbl>
              <a:tblPr/>
              <a:tblGrid>
                <a:gridCol w="1005840"/>
                <a:gridCol w="777240"/>
                <a:gridCol w="868680"/>
                <a:gridCol w="914400"/>
                <a:gridCol w="91440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กลุ่ม</a:t>
                      </a:r>
                      <a:endParaRPr lang="en-US" sz="125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บิล</a:t>
                      </a:r>
                      <a:endParaRPr lang="en-US" sz="125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% บิล</a:t>
                      </a:r>
                      <a:endParaRPr lang="en-US" sz="125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% ยอดขาย</a:t>
                      </a:r>
                      <a:endParaRPr lang="en-US" sz="125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มูลค่าเฉลี่ย/บิล</a:t>
                      </a:r>
                      <a:endParaRPr lang="en-US" sz="125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E2761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ลูกค้าปลีก</a:t>
                      </a:r>
                      <a:endParaRPr lang="en-US" sz="125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1E2761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2,834</a:t>
                      </a:r>
                      <a:endParaRPr lang="en-US" sz="125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1E2761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7.17%</a:t>
                      </a:r>
                      <a:endParaRPr lang="en-US" sz="125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1E2761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0.48%</a:t>
                      </a:r>
                      <a:endParaRPr lang="en-US" sz="125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1E2761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£34.12</a:t>
                      </a:r>
                      <a:endParaRPr lang="en-US" sz="125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E2761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ลูกค้าขายส่ง</a:t>
                      </a:r>
                      <a:endParaRPr lang="en-US" sz="125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1E2761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36,683</a:t>
                      </a:r>
                      <a:endParaRPr lang="en-US" sz="125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1E2761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92.83%</a:t>
                      </a:r>
                      <a:endParaRPr lang="en-US" sz="125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rgbClr val="D4A24C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99.52%</a:t>
                      </a:r>
                      <a:endParaRPr lang="en-US" sz="125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1E2761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£545.88</a:t>
                      </a:r>
                      <a:endParaRPr lang="en-US" sz="125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C"/>
                    </a:solidFill>
                  </a:tcPr>
                </a:tc>
              </a:tr>
            </a:tbl>
          </a:graphicData>
        </a:graphic>
      </p:graphicFrame>
      <p:sp>
        <p:nvSpPr>
          <p:cNvPr id="6" name="Shape 2"/>
          <p:cNvSpPr/>
          <p:nvPr/>
        </p:nvSpPr>
        <p:spPr>
          <a:xfrm>
            <a:off x="7178040" y="3200400"/>
            <a:ext cx="4480560" cy="1417320"/>
          </a:xfrm>
          <a:prstGeom prst="roundRect">
            <a:avLst>
              <a:gd name="adj" fmla="val 5161"/>
            </a:avLst>
          </a:prstGeom>
          <a:solidFill>
            <a:srgbClr val="1E2761"/>
          </a:solidFill>
          <a:ln/>
          <a:effectLst>
            <a:outerShdw sx="100000" sy="100000" kx="0" ky="0" algn="bl" rotWithShape="0" blurRad="76200" dist="25400" dir="5400000">
              <a:srgbClr val="1E2761">
                <a:alpha val="18000"/>
              </a:srgbClr>
            </a:outerShdw>
          </a:effectLst>
        </p:spPr>
      </p:sp>
      <p:sp>
        <p:nvSpPr>
          <p:cNvPr id="7" name="Text 3"/>
          <p:cNvSpPr/>
          <p:nvPr/>
        </p:nvSpPr>
        <p:spPr>
          <a:xfrm>
            <a:off x="7406640" y="3310128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มูลค่าเฉลี่ยต่อบิลของกลุ่มขายส่ง</a:t>
            </a:r>
            <a:endParaRPr lang="en-US" sz="1250" dirty="0"/>
          </a:p>
        </p:txBody>
      </p:sp>
      <p:sp>
        <p:nvSpPr>
          <p:cNvPr id="8" name="Text 4"/>
          <p:cNvSpPr/>
          <p:nvPr/>
        </p:nvSpPr>
        <p:spPr>
          <a:xfrm>
            <a:off x="7406640" y="3611880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D4A24C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สูงกว่ากลุ่มปลีกเกือบ 16 เท่า</a:t>
            </a:r>
            <a:endParaRPr lang="en-US" sz="2100" dirty="0"/>
          </a:p>
        </p:txBody>
      </p:sp>
      <p:sp>
        <p:nvSpPr>
          <p:cNvPr id="9" name="Text 5"/>
          <p:cNvSpPr/>
          <p:nvPr/>
        </p:nvSpPr>
        <p:spPr>
          <a:xfrm>
            <a:off x="7406640" y="411480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(£545.88 เทียบ £34.12) และกลุ่มขายส่งสร้างรายได้เกือบทั้งหมดของบริษัท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7178040" y="4800600"/>
            <a:ext cx="4480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i="1" dirty="0">
                <a:solidFill>
                  <a:srgbClr val="5B6B8C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ข้อจำกัด: แบ่งกลุ่มระดับ "บิล" ไม่ใช่ระดับ "ลูกค้า" — การแบ่งกลุ่มลูกค้าอย่างเป็นทางการ (RFM + clustering) จะทำใน Goal 2 (G2-D2)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457200" y="6473952"/>
            <a:ext cx="10725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B6B8C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A4 — Retail vs Wholesale Segmentation</a:t>
            </a:r>
            <a:endParaRPr lang="en-US" sz="1100" dirty="0"/>
          </a:p>
        </p:txBody>
      </p:sp>
      <p:sp>
        <p:nvSpPr>
          <p:cNvPr id="12" name="Text 8"/>
          <p:cNvSpPr/>
          <p:nvPr/>
        </p:nvSpPr>
        <p:spPr>
          <a:xfrm>
            <a:off x="9171432" y="647395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B8C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G1-A · INT 540 Data Analytics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2194560"/>
            <a:ext cx="5669280" cy="5669280"/>
          </a:xfrm>
          <a:prstGeom prst="ellipse">
            <a:avLst/>
          </a:prstGeom>
          <a:solidFill>
            <a:srgbClr val="263480"/>
          </a:solidFill>
          <a:ln/>
        </p:spPr>
      </p:sp>
      <p:sp>
        <p:nvSpPr>
          <p:cNvPr id="3" name="Shape 1"/>
          <p:cNvSpPr/>
          <p:nvPr/>
        </p:nvSpPr>
        <p:spPr>
          <a:xfrm>
            <a:off x="-2286000" y="4389120"/>
            <a:ext cx="4937760" cy="4937760"/>
          </a:xfrm>
          <a:prstGeom prst="ellipse">
            <a:avLst/>
          </a:prstGeom>
          <a:solidFill>
            <a:srgbClr val="263480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65176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D4A24C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ส่วนที่ 2 · G1-B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22960" y="3108960"/>
            <a:ext cx="10515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ปัญหาคืออะไร และรู้ได้ยังไงว่าเป็นปัญหา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822960" y="4114800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ADCFC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Systems Thinking · Pain point จากข้อมูลจริง · Problem Statement · Customer Journey Map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22960" y="6172200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AA8D6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ฐานคำนวณ: แถวขายจริง 1,037,007 แถว · £20,121,372.19 · ลูกค้าที่ระบุตัวตนได้ 5,852 ราย (86.65% ของยอดขาย)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8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100" kern="0" dirty="0">
                <a:solidFill>
                  <a:srgbClr val="D4A24C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B1 · Systems Thinking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ระบบขายครบทุกขั้น ยกเว้นขั้นที่บอกว่าลูกค้ากำลังจะหาย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20040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E2761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6916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pc="150" kern="0" dirty="0">
                <a:solidFill>
                  <a:srgbClr val="D4A24C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INPUT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04672" y="2103120"/>
            <a:ext cx="27432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300" dirty="0">
                <a:solidFill>
                  <a:srgbClr val="1E2761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คำสั่งซื้อ 53,628 ใบ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E2761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สินค้า 4,898 SKU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E2761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ลูกค้า UK + 42 ประเทศ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480560" y="1600200"/>
            <a:ext cx="320040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E2761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480560" y="16916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pc="150" kern="0" dirty="0">
                <a:solidFill>
                  <a:srgbClr val="D4A24C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PROCESS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736592" y="2103120"/>
            <a:ext cx="27432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300" dirty="0">
                <a:solidFill>
                  <a:srgbClr val="1E2761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1. รับคำสั่งซื้อ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E2761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2. จัดของ / ส่งของ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E2761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3. ออกใบแจ้งหนี้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E2761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4. รับคืน / ยกเลิก (8,292 ใบ)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412480" y="1600200"/>
            <a:ext cx="320040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E2761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412480" y="16916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pc="150" kern="0" dirty="0">
                <a:solidFill>
                  <a:srgbClr val="D4A24C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OUTPUT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668512" y="2103120"/>
            <a:ext cx="27432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300" dirty="0">
                <a:solidFill>
                  <a:srgbClr val="1E2761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ยอดขาย £20.1M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E2761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ลูกค้า 5,852 ราย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E2761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คืนของ -£1.53M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E2761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ลูกค้าเงียบ 40.64%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886200" y="24231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→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7818120" y="24231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→</a:t>
            </a:r>
            <a:endParaRPr lang="en-US" sz="3000" dirty="0"/>
          </a:p>
        </p:txBody>
      </p:sp>
      <p:sp>
        <p:nvSpPr>
          <p:cNvPr id="15" name="Shape 13"/>
          <p:cNvSpPr/>
          <p:nvPr/>
        </p:nvSpPr>
        <p:spPr>
          <a:xfrm>
            <a:off x="548640" y="4160520"/>
            <a:ext cx="11064240" cy="868680"/>
          </a:xfrm>
          <a:prstGeom prst="roundRect">
            <a:avLst>
              <a:gd name="adj" fmla="val 10526"/>
            </a:avLst>
          </a:prstGeom>
          <a:solidFill>
            <a:srgbClr val="FBE9E7"/>
          </a:solidFill>
          <a:ln w="19050">
            <a:solidFill>
              <a:srgbClr val="B3402F"/>
            </a:solidFill>
            <a:prstDash val="dash"/>
          </a:ln>
        </p:spPr>
      </p:sp>
      <p:sp>
        <p:nvSpPr>
          <p:cNvPr id="16" name="Text 14"/>
          <p:cNvSpPr/>
          <p:nvPr/>
        </p:nvSpPr>
        <p:spPr>
          <a:xfrm>
            <a:off x="822960" y="4160520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3402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FEEDBACK LOOP ที่ขาด — </a:t>
            </a:r>
            <a:pPr indent="0" marL="0">
              <a:buNone/>
            </a:pPr>
            <a:r>
              <a:rPr lang="en-US" sz="1500" dirty="0">
                <a:solidFill>
                  <a:srgbClr val="1E2761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ระบบวัดได้แค่ “ขายได้เท่าไร” แต่ไม่มีขั้นตอนใดป้อนกลับว่า ลูกค้าคนไหนกำลังเงียบ หรือ การคืนของกระจุกที่ใคร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548640" y="525780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FF4E0"/>
          </a:solidFill>
          <a:ln w="12700">
            <a:solidFill>
              <a:srgbClr val="D4A24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49808" y="5257800"/>
            <a:ext cx="1066190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b="1" dirty="0">
                <a:solidFill>
                  <a:srgbClr val="1E2761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เมื่อไม่มี feedback ระบบจึงแก้ตัวเองไม่ได้ </a:t>
            </a:r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1E2761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— นี่คือรากของ pain point ทั้ง 2 ข้อใน B3/B4 และตรงกับคาบ 13 ส.ค.: ข้อมูลมีอยู่แล้ว แต่ไม่ถูกแปลงเป็น information ที่ใช้ตัดสินใจ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457200" y="6473952"/>
            <a:ext cx="10725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B6B8C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ขอบเขตที่เลือก (B2): customer journey ของลูกค้าที่ซื้อซ้ำ — เส้นเดียวที่พิสูจน์ได้ด้วยข้อมูลทุกจุด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9171432" y="647395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B8C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G1-B · INT 540 Data Analytics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8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100" kern="0" dirty="0">
                <a:solidFill>
                  <a:srgbClr val="D4A24C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B3 · Pain point ที่ 1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ลูกค้า 27.65% ซื้อครั้งเดียวแล้วไม่กลับมาอีกเลย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260604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E2761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58368" y="1645920"/>
            <a:ext cx="2386584" cy="71597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B3402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27.65%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40080" y="2295144"/>
            <a:ext cx="2423160" cy="4690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B8C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ซื้อครั้งเดียว (1,618 ราย)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337560" y="1554480"/>
            <a:ext cx="260604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E2761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447288" y="1645920"/>
            <a:ext cx="2386584" cy="71597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B3402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24.79%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3429000" y="2295144"/>
            <a:ext cx="2423160" cy="4690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B8C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cohort 12 เดือนยืนยัน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126480" y="1554480"/>
            <a:ext cx="260604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E2761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236208" y="1645920"/>
            <a:ext cx="2386584" cy="71597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56 วัน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6217920" y="2295144"/>
            <a:ext cx="2423160" cy="4690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B8C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มัธยฐานถึงการซื้อครั้งที่ 2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915400" y="1554480"/>
            <a:ext cx="269748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E2761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025128" y="1645920"/>
            <a:ext cx="2478024" cy="71597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5B8A5E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11.4×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9006840" y="2295144"/>
            <a:ext cx="2514600" cy="4690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B8C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ลูกค้าซื้อซ้ำสร้างรายได้มากกว่า</a:t>
            </a:r>
            <a:endParaRPr lang="en-US" sz="12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017520"/>
          <a:ext cx="6675120" cy="2468880"/>
        </p:xfrm>
        <a:graphic>
          <a:graphicData uri="http://schemas.openxmlformats.org/drawingml/2006/table">
            <a:tbl>
              <a:tblPr/>
              <a:tblGrid>
                <a:gridCol w="2286000"/>
                <a:gridCol w="1280160"/>
                <a:gridCol w="1554480"/>
                <a:gridCol w="1554480"/>
              </a:tblGrid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จำนวนครั้งที่สั่งซื้อ</a:t>
                      </a:r>
                      <a:endParaRPr lang="en-US" sz="125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ลูกค้า</a:t>
                      </a:r>
                      <a:endParaRPr lang="en-US" sz="125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% ลูกค้า</a:t>
                      </a:r>
                      <a:endParaRPr lang="en-US" sz="125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% ยอดขาย</a:t>
                      </a:r>
                      <a:endParaRPr lang="en-US" sz="125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B3402F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1 ครั้ง</a:t>
                      </a:r>
                      <a:endParaRPr lang="en-US" sz="12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5B6B8C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1,618</a:t>
                      </a:r>
                      <a:endParaRPr lang="en-US" sz="12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B3402F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27.65%</a:t>
                      </a:r>
                      <a:endParaRPr lang="en-US" sz="12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B3402F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3.23%</a:t>
                      </a:r>
                      <a:endParaRPr lang="en-US" sz="12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2 ครั้ง</a:t>
                      </a:r>
                      <a:endParaRPr lang="en-US" sz="12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5B6B8C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945</a:t>
                      </a:r>
                      <a:endParaRPr lang="en-US" sz="12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5B6B8C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16.15%</a:t>
                      </a:r>
                      <a:endParaRPr lang="en-US" sz="12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5B6B8C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4.70%</a:t>
                      </a:r>
                      <a:endParaRPr lang="en-US" sz="12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C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3 ครั้ง</a:t>
                      </a:r>
                      <a:endParaRPr lang="en-US" sz="12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5B6B8C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659</a:t>
                      </a:r>
                      <a:endParaRPr lang="en-US" sz="12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5B6B8C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11.26%</a:t>
                      </a:r>
                      <a:endParaRPr lang="en-US" sz="12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5B6B8C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4.77%</a:t>
                      </a:r>
                      <a:endParaRPr lang="en-US" sz="12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4–5 ครั้ง</a:t>
                      </a:r>
                      <a:endParaRPr lang="en-US" sz="12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5B6B8C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844</a:t>
                      </a:r>
                      <a:endParaRPr lang="en-US" sz="12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5B6B8C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14.42%</a:t>
                      </a:r>
                      <a:endParaRPr lang="en-US" sz="12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5B6B8C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7.45%</a:t>
                      </a:r>
                      <a:endParaRPr lang="en-US" sz="12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C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6–10 ครั้ง</a:t>
                      </a:r>
                      <a:endParaRPr lang="en-US" sz="12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5B6B8C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922</a:t>
                      </a:r>
                      <a:endParaRPr lang="en-US" sz="12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5B6B8C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15.76%</a:t>
                      </a:r>
                      <a:endParaRPr lang="en-US" sz="12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5B6B8C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15.18%</a:t>
                      </a:r>
                      <a:endParaRPr lang="en-US" sz="12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5B8A5E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11+ ครั้ง</a:t>
                      </a:r>
                      <a:endParaRPr lang="en-US" sz="12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5B6B8C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864</a:t>
                      </a:r>
                      <a:endParaRPr lang="en-US" sz="12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5B8A5E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14.76%</a:t>
                      </a:r>
                      <a:endParaRPr lang="en-US" sz="12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5B8A5E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64.67%</a:t>
                      </a:r>
                      <a:endParaRPr lang="en-US" sz="12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C"/>
                    </a:solidFill>
                  </a:tcPr>
                </a:tc>
              </a:tr>
            </a:tbl>
          </a:graphicData>
        </a:graphic>
      </p:graphicFrame>
      <p:sp>
        <p:nvSpPr>
          <p:cNvPr id="17" name="Shape 14"/>
          <p:cNvSpPr/>
          <p:nvPr/>
        </p:nvSpPr>
        <p:spPr>
          <a:xfrm>
            <a:off x="7498080" y="3017520"/>
            <a:ext cx="4114800" cy="246888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E2761">
                <a:alpha val="18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7726680" y="31546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4A24C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กันข้อโต้แย้งไว้ก่อน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7726680" y="3566160"/>
            <a:ext cx="365760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E2761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“ลูกค้าที่เพิ่งซื้อปลายปี 2011 ยังไม่ทันกลับมา จะนับว่าหายได้ยังไง”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E2761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จึงตัด cohort เฉพาะลูกค้าที่ซื้อครั้งแรกก่อน 9 ธ.ค. 2010 — ทุกคนมีเวลาเต็ม 12 เดือน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E2761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จาก 4,284 ราย มี 1,062 ราย (24.79%) ที่ไม่กลับมาเลย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E2761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ใกล้เคียง 27.65% → ไม่ใช่ผลจากการตัดช่วงเวลา</a:t>
            </a:r>
            <a:endParaRPr lang="en-US" sz="1250" dirty="0"/>
          </a:p>
        </p:txBody>
      </p:sp>
      <p:sp>
        <p:nvSpPr>
          <p:cNvPr id="20" name="Text 17"/>
          <p:cNvSpPr/>
          <p:nvPr/>
        </p:nvSpPr>
        <p:spPr>
          <a:xfrm>
            <a:off x="457200" y="6473952"/>
            <a:ext cx="10725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B6B8C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ที่มา: analysis/g1b.py — ลูกค้าที่ระบุตัวตนได้ 5,852 ราย (86.65% ของยอดขาย)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9171432" y="647395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B8C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G1-B · INT 540 Data Analytics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8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100" kern="0" dirty="0">
                <a:solidFill>
                  <a:srgbClr val="D4A24C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B3 · อ่านตัวเลขให้ตรง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เยอะในเชิงจำนวนหัว แต่เล็กในเชิงเงิน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39496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E2761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69164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ลูกค้าซื้อครั้งเดียว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777240" y="2103120"/>
            <a:ext cx="49377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B3402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27.65%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5B6B8C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  ของจำนวนลูกค้า
</a:t>
            </a:r>
            <a:pPr indent="0" marL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5B6B8C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3.23%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5B6B8C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  ของยอดขาย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6217920" y="1554480"/>
            <a:ext cx="539496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E2761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46520" y="169164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ลูกค้าสั่ง 11+ ครั้ง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446520" y="2103120"/>
            <a:ext cx="49377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5B6B8C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14.76%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5B6B8C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  ของจำนวนลูกค้า
</a:t>
            </a:r>
            <a:pPr indent="0" marL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5B8A5E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64.67%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5B6B8C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  ของยอดขาย</a:t>
            </a:r>
            <a:endParaRPr lang="en-US" sz="3000" dirty="0"/>
          </a:p>
        </p:txBody>
      </p:sp>
      <p:sp>
        <p:nvSpPr>
          <p:cNvPr id="10" name="Shape 8"/>
          <p:cNvSpPr/>
          <p:nvPr/>
        </p:nvSpPr>
        <p:spPr>
          <a:xfrm>
            <a:off x="548640" y="361188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FF4E0"/>
          </a:solidFill>
          <a:ln w="12700">
            <a:solidFill>
              <a:srgbClr val="D4A24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9808" y="3611880"/>
            <a:ext cx="1066190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b="1" dirty="0">
                <a:solidFill>
                  <a:srgbClr val="B3402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ถ้าแก้ปัญหาลูกค้าซื้อครั้งเดียวได้ทั้งหมด ก็ได้เงินเพิ่มไม่ถึง 4% — </a:t>
            </a:r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1E2761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เงินจริงอยู่ที่ลูกค้าประจำ ความเสี่ยงที่แพงที่สุดจึงคือ “ลูกค้าประจำเงียบหาย” ไม่ใช่ “ลูกค้าขาจรไม่กลับมา”</a:t>
            </a:r>
            <a:endParaRPr lang="en-US" sz="135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663440"/>
          <a:ext cx="11064240" cy="1371600"/>
        </p:xfrm>
        <a:graphic>
          <a:graphicData uri="http://schemas.openxmlformats.org/drawingml/2006/table">
            <a:tbl>
              <a:tblPr/>
              <a:tblGrid>
                <a:gridCol w="2194560"/>
                <a:gridCol w="1645920"/>
                <a:gridCol w="1828800"/>
                <a:gridCol w="2377440"/>
                <a:gridCol w="3017520"/>
              </a:tblGrid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กลุ่มลูกค้า</a:t>
                      </a:r>
                      <a:endParaRPr lang="en-US" sz="125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จำนวน</a:t>
                      </a:r>
                      <a:endParaRPr lang="en-US" sz="125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% ยอดขาย</a:t>
                      </a:r>
                      <a:endParaRPr lang="en-US" sz="125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เงียบ &gt; 180 วัน</a:t>
                      </a:r>
                      <a:endParaRPr lang="en-US" sz="125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ยอดขายที่กลุ่มเงียบถือครอง</a:t>
                      </a:r>
                      <a:endParaRPr lang="en-US" sz="125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สั่ง 6+ ครั้ง</a:t>
                      </a:r>
                      <a:endParaRPr lang="en-US" sz="12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5B6B8C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1,786</a:t>
                      </a:r>
                      <a:endParaRPr lang="en-US" sz="12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5B6B8C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79.84%</a:t>
                      </a:r>
                      <a:endParaRPr lang="en-US" sz="12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5B6B8C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205 ราย (11.48%)</a:t>
                      </a:r>
                      <a:endParaRPr lang="en-US" sz="12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B3402F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£813,004  (4.66%)</a:t>
                      </a:r>
                      <a:endParaRPr lang="en-US" sz="12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สั่ง 11+ ครั้ง</a:t>
                      </a:r>
                      <a:endParaRPr lang="en-US" sz="12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5B6B8C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864</a:t>
                      </a:r>
                      <a:endParaRPr lang="en-US" sz="12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5B6B8C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64.67%</a:t>
                      </a:r>
                      <a:endParaRPr lang="en-US" sz="12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5B6B8C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52 ราย (6.02%)</a:t>
                      </a:r>
                      <a:endParaRPr lang="en-US" sz="12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B3402F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£475,808  (2.73%)</a:t>
                      </a:r>
                      <a:endParaRPr lang="en-US" sz="12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C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5B6B8C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ลูกค้าทั้งหมด</a:t>
                      </a:r>
                      <a:endParaRPr lang="en-US" sz="12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5B6B8C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5,852</a:t>
                      </a:r>
                      <a:endParaRPr lang="en-US" sz="12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5B6B8C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100%</a:t>
                      </a:r>
                      <a:endParaRPr lang="en-US" sz="12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5B6B8C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2,378 ราย (40.64%)</a:t>
                      </a:r>
                      <a:endParaRPr lang="en-US" sz="12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5B6B8C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13.49% ของยอดขาย</a:t>
                      </a:r>
                      <a:endParaRPr lang="en-US" sz="12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Text 10"/>
          <p:cNvSpPr/>
          <p:nvPr/>
        </p:nvSpPr>
        <p:spPr>
          <a:xfrm>
            <a:off x="457200" y="6473952"/>
            <a:ext cx="10725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B6B8C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“เงียบ &gt; 180 วัน” ตั้งจากข้อมูลเอง: มัธยฐานถึงการซื้อครั้งที่ 2 = 56 วัน · P75 = 133 วัน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9171432" y="647395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B8C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G1-B · INT 540 Data Analytics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8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100" kern="0" dirty="0">
                <a:solidFill>
                  <a:srgbClr val="D4A24C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B4 · Pain point ที่ 2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การคืนของ 7.59% เป็นตัวเลขที่ใช้ไม่ได้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394960" cy="1371600"/>
          </a:xfrm>
          <a:prstGeom prst="roundRect">
            <a:avLst>
              <a:gd name="adj" fmla="val 6667"/>
            </a:avLst>
          </a:prstGeom>
          <a:solidFill>
            <a:srgbClr val="FBE9E7"/>
          </a:solidFill>
          <a:ln w="12700">
            <a:solidFill>
              <a:srgbClr val="B3402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600200"/>
            <a:ext cx="4846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5B6B8C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ถ้ารายงานแบบตรง ๆ
</a:t>
            </a:r>
            <a:pPr indent="0" marL="0">
              <a:lnSpc>
                <a:spcPct val="115000"/>
              </a:lnSpc>
              <a:buNone/>
            </a:pPr>
            <a:r>
              <a:rPr lang="en-US" sz="2400" b="1" dirty="0">
                <a:solidFill>
                  <a:srgbClr val="B3402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-£1,526,667.86  =  7.59%</a:t>
            </a:r>
            <a:pPr indent="0" marL="0">
              <a:lnSpc>
                <a:spcPct val="115000"/>
              </a:lnSpc>
              <a:buNone/>
            </a:pP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B6B8C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ของยอดขาย (ใบ C 8,292 ใบ / 19,494 แถว)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217920" y="1554480"/>
            <a:ext cx="5394960" cy="1371600"/>
          </a:xfrm>
          <a:prstGeom prst="roundRect">
            <a:avLst>
              <a:gd name="adj" fmla="val 6667"/>
            </a:avLst>
          </a:prstGeom>
          <a:solidFill>
            <a:srgbClr val="EAF5EC"/>
          </a:solidFill>
          <a:ln w="12700">
            <a:solidFill>
              <a:srgbClr val="5B8A5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92240" y="1600200"/>
            <a:ext cx="4846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5B6B8C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ตัวเลขที่ถูกต้อง — คืนสินค้าจริง
</a:t>
            </a:r>
            <a:pPr indent="0" marL="0">
              <a:lnSpc>
                <a:spcPct val="115000"/>
              </a:lnSpc>
              <a:buNone/>
            </a:pPr>
            <a:r>
              <a:rPr lang="en-US" sz="2400" b="1" dirty="0">
                <a:solidFill>
                  <a:srgbClr val="5B8A5E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-£726,588.95  =  3.61%</a:t>
            </a:r>
            <a:pPr indent="0" marL="0">
              <a:lnSpc>
                <a:spcPct val="115000"/>
              </a:lnSpc>
              <a:buNone/>
            </a:pP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B6B8C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ของยอดขาย (คิดเป็น 47.59% ของยอดใบ C)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306324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52.41% ของยอดใบ C ไม่ใช่การคืนสินค้าเลย — เป็นรายการบัญชีที่บังเอิญถูกบันทึกเป็นใบ C</a:t>
            </a:r>
            <a:endParaRPr lang="en-US" sz="17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566160"/>
          <a:ext cx="11064240" cy="2103120"/>
        </p:xfrm>
        <a:graphic>
          <a:graphicData uri="http://schemas.openxmlformats.org/drawingml/2006/table">
            <a:tbl>
              <a:tblPr/>
              <a:tblGrid>
                <a:gridCol w="5029200"/>
                <a:gridCol w="2194560"/>
                <a:gridCol w="2103120"/>
                <a:gridCol w="1737360"/>
              </a:tblGrid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Top 5 รายการที่ถูก “คืน” มากที่สุดตามมูลค่า</a:t>
                      </a:r>
                      <a:endParaRPr lang="en-US" sz="125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StockCode</a:t>
                      </a:r>
                      <a:endParaRPr lang="en-US" sz="125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มูลค่า</a:t>
                      </a:r>
                      <a:endParaRPr lang="en-US" sz="125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ใช่สินค้าไหม</a:t>
                      </a:r>
                      <a:endParaRPr lang="en-US" sz="125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Manual (รายการปรับปรุงด้วยมือ)</a:t>
                      </a:r>
                      <a:endParaRPr lang="en-US" sz="12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5B6B8C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M</a:t>
                      </a:r>
                      <a:endParaRPr lang="en-US" sz="12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5B6B8C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-£423,512.60</a:t>
                      </a:r>
                      <a:endParaRPr lang="en-US" sz="12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B3402F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ไม่ใช่</a:t>
                      </a:r>
                      <a:endParaRPr lang="en-US" sz="12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Amazon Fee</a:t>
                      </a:r>
                      <a:endParaRPr lang="en-US" sz="12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5B6B8C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AMAZONFEE</a:t>
                      </a:r>
                      <a:endParaRPr lang="en-US" sz="12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5B6B8C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-£294,772.71</a:t>
                      </a:r>
                      <a:endParaRPr lang="en-US" sz="12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B3402F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ไม่ใช่</a:t>
                      </a:r>
                      <a:endParaRPr lang="en-US" sz="12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C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PAPER CRAFT , LITTLE BIRDIE</a:t>
                      </a:r>
                      <a:endParaRPr lang="en-US" sz="12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5B6B8C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23843</a:t>
                      </a:r>
                      <a:endParaRPr lang="en-US" sz="12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5B6B8C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-£168,469.60</a:t>
                      </a:r>
                      <a:endParaRPr lang="en-US" sz="12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5B8A5E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ใช่</a:t>
                      </a:r>
                      <a:endParaRPr lang="en-US" sz="12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MEDIUM CERAMIC TOP STORAGE JAR</a:t>
                      </a:r>
                      <a:endParaRPr lang="en-US" sz="12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5B6B8C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23166</a:t>
                      </a:r>
                      <a:endParaRPr lang="en-US" sz="12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5B6B8C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-£77,479.64</a:t>
                      </a:r>
                      <a:endParaRPr lang="en-US" sz="12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5B8A5E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ใช่</a:t>
                      </a:r>
                      <a:endParaRPr lang="en-US" sz="12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C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Bank Charges</a:t>
                      </a:r>
                      <a:endParaRPr lang="en-US" sz="12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5B6B8C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BANK CHARGES</a:t>
                      </a:r>
                      <a:endParaRPr lang="en-US" sz="12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5B6B8C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-£36,096.87</a:t>
                      </a:r>
                      <a:endParaRPr lang="en-US" sz="12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B3402F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ไม่ใช่</a:t>
                      </a:r>
                      <a:endParaRPr lang="en-US" sz="12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457200" y="6473952"/>
            <a:ext cx="10725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B6B8C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ประเด็นนี้อยู่บนสไลด์เพราะแสดงว่าทีมอ่านข้อมูลจริง ไม่ได้ groupby แล้วเชื่อผลทันที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9171432" y="647395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B8C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G1-B · INT 540 Data Analytics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8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100" kern="0" dirty="0">
                <a:solidFill>
                  <a:srgbClr val="D4A24C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B4 · กระจุกตัว และความเข้าใจผิด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การคืนของกระจุกที่คนไม่กี่ราย และไม่ใช่สัญญาณว่าจะเลิกซื้อ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352044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E2761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58368" y="1645920"/>
            <a:ext cx="3300984" cy="742493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B3402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58.12%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40080" y="2322576"/>
            <a:ext cx="3337560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B8C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ของมูลค่าการคืน มาจากผู้คืน 1% แรก (25 ราย)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251960" y="1554480"/>
            <a:ext cx="352044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E2761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361688" y="1645920"/>
            <a:ext cx="3300984" cy="742493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B3402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41.92%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4343400" y="2322576"/>
            <a:ext cx="3337560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B8C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มาจาก 10 รายแรกเท่านั้น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955280" y="1554480"/>
            <a:ext cx="365760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E2761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065008" y="1645920"/>
            <a:ext cx="3438144" cy="742493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5B6B8C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-£431,531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8046720" y="2322576"/>
            <a:ext cx="3474720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B8C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ยอดคืนที่ไม่มี Customer ID (750 แถว) — สอบกลับไม่ได้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063240"/>
            <a:ext cx="5394960" cy="21945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E2761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77240" y="32004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“คืนของบ่อย = กำลังจะเลิกซื้อ” ?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777240" y="3657600"/>
            <a:ext cx="4937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E2761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ลูกค้าซื้อซ้ำ เคยคืนของ    </a:t>
            </a:r>
            <a:pPr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1E2761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53.80%
</a:t>
            </a:r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E2761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ลูกค้าซื้อครั้งเดียว เคยคืนของ    </a:t>
            </a:r>
            <a:pPr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5B6B8C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13.47%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77240" y="461772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B6B8C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ข้อมูลบอกตรงข้ามกับสัญชาตญาณ — ลูกค้าประจำคืนของบ่อยกว่าเกือบ 4 เท่า เพราะซื้อบ่อยกว่า จึงมีโอกาสคืนมากกว่า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217920" y="3063240"/>
            <a:ext cx="5394960" cy="2194560"/>
          </a:xfrm>
          <a:prstGeom prst="roundRect">
            <a:avLst>
              <a:gd name="adj" fmla="val 4167"/>
            </a:avLst>
          </a:prstGeom>
          <a:solidFill>
            <a:srgbClr val="FFF4E0"/>
          </a:solidFill>
          <a:ln w="12700">
            <a:solidFill>
              <a:srgbClr val="D4A24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46520" y="32004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D4A24C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สิ่งที่ห้ามเขียนบนสไลด์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6446520" y="3611880"/>
            <a:ext cx="49377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E2761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ห้ามสรุปว่า “การคืนของทำนายการเลิกซื้อ” — หลักฐานเบื้องต้นบอกว่าไม่จริง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E2761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เก็บไว้เป็นสมมติฐานที่จะทดสอบจริงใน Goal 2 ตอนทำ classification (G2-D3)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E2761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อีกเรื่อง: แถว Quantity ติดลบที่ไม่ใช่ใบ C 3,457 แถว มูลค่ารวม £0.00 และ 100% ไม่มี Customer ID → เป็นการตัดสต๊อกของเสีย (damaged, smashed, thrown away) ไม่ใช่การคืนจากลูกค้า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457200" y="6473952"/>
            <a:ext cx="10725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B6B8C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อัตราคืนของ UK 7.71% vs ต่างประเทศ 6.85% — ไม่ต่างกันมาก ปัญหาไม่ได้อยู่ที่ตลาดใดตลาดหนึ่ง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9171432" y="647395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B8C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G1-B · INT 540 Data Analytics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2377440"/>
            <a:ext cx="5486400" cy="5486400"/>
          </a:xfrm>
          <a:prstGeom prst="ellipse">
            <a:avLst/>
          </a:prstGeom>
          <a:solidFill>
            <a:srgbClr val="26348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rgbClr val="D4A24C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B5 · PROBLEM STATEMENT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005840"/>
            <a:ext cx="10881360" cy="2514600"/>
          </a:xfrm>
          <a:prstGeom prst="roundRect">
            <a:avLst>
              <a:gd name="adj" fmla="val 3636"/>
            </a:avLst>
          </a:prstGeom>
          <a:solidFill>
            <a:srgbClr val="263480"/>
          </a:solidFill>
          <a:ln w="19050">
            <a:solidFill>
              <a:srgbClr val="D4A24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0120" y="1143000"/>
            <a:ext cx="1024128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ตลอด 2 ปีของข้อมูล ลูกค้าที่ระบุตัวตนได้ 5,852 ราย มีถึง 27.65% (1,618 ราย) ที่ซื้อเพียงครั้งเดียวแล้วไม่กลับมาอีก และ 40.64% (2,378 ราย) เงียบหายเกิน 180 วัน — ในจำนวนนี้มีลูกค้าประจำที่สั่งซื้อตั้งแต่ 6 ครั้งขึ้นไปรวม 205 ราย ซึ่งถือครองยอดขาย £813,004 (4.66% ของยอดขายจากลูกค้าที่ระบุตัวตนได้) — โดยธุรกิจไม่มีขั้นตอนใดในระบบที่ตรวจจับ การเงียบหายนี้ได้ก่อนที่ลูกค้าจะหายไปแล้ว ทั้งที่ลูกค้าซื้อซ้ำสร้างรายได้เฉลี่ยต่อรายสูงกว่าลูกค้าซื้อครั้งเดียว 11.4 เท่า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640080" y="3794760"/>
            <a:ext cx="1554480" cy="566928"/>
          </a:xfrm>
          <a:prstGeom prst="roundRect">
            <a:avLst>
              <a:gd name="adj" fmla="val 12903"/>
            </a:avLst>
          </a:prstGeom>
          <a:solidFill>
            <a:srgbClr val="D4A24C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3794760"/>
            <a:ext cx="1554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อาการ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2377440" y="3794760"/>
            <a:ext cx="9144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ซื้อครั้งเดียวแล้วหาย / เงียบเกิน 180 วัน โดยระบบไม่รู้ตัว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40080" y="4453128"/>
            <a:ext cx="1554480" cy="566928"/>
          </a:xfrm>
          <a:prstGeom prst="roundRect">
            <a:avLst>
              <a:gd name="adj" fmla="val 12903"/>
            </a:avLst>
          </a:prstGeom>
          <a:solidFill>
            <a:srgbClr val="D4A24C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4453128"/>
            <a:ext cx="1554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ขนาด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2377440" y="4453128"/>
            <a:ext cx="9144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27.65% (1,618 ราย) · 40.64% (2,378 ราย) · 205 รายในกลุ่มลูกค้าประจำ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40080" y="5111496"/>
            <a:ext cx="1554480" cy="566928"/>
          </a:xfrm>
          <a:prstGeom prst="roundRect">
            <a:avLst>
              <a:gd name="adj" fmla="val 12903"/>
            </a:avLst>
          </a:prstGeom>
          <a:solidFill>
            <a:srgbClr val="D4A24C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5111496"/>
            <a:ext cx="1554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ผลกระทบ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2377440" y="5111496"/>
            <a:ext cx="9144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£813,004 = 4.66% ของยอดขาย + เสียโอกาสรายได้ที่สูงกว่า 11.4 เท่า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40080" y="59436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i="1" dirty="0">
                <a:solidFill>
                  <a:srgbClr val="9AA8D6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ทำไมแกนเป็น “ลูกค้าหาย” ไม่ใช่ “การคืนของ”: การคืนสินค้าจริง £726,589 กระจุกอยู่ที่ลูกค้าเพียง 25 ราย แก้ได้ด้วยการคุยกับลูกค้ารายใหญ่ ไม่ต้องใช้ระบบวิเคราะห์ — ส่วนการเงียบหายกระจายทั่วฐานลูกค้า มองด้วยตาไม่เห็น ต้องใช้การวิเคราะห์ข้อมูลถึงจะเจอ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8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100" kern="0" dirty="0">
                <a:solidFill>
                  <a:srgbClr val="D4A24C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B6 · Customer Journey Map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ลูกค้าหลุดตรงไหน และหลุดไปกี่ราย</a:t>
            </a:r>
            <a:endParaRPr lang="en-US" sz="30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463040"/>
          <a:ext cx="11384280" cy="3977640"/>
        </p:xfrm>
        <a:graphic>
          <a:graphicData uri="http://schemas.openxmlformats.org/drawingml/2006/table">
            <a:tbl>
              <a:tblPr/>
              <a:tblGrid>
                <a:gridCol w="1325880"/>
                <a:gridCol w="2011680"/>
                <a:gridCol w="2011680"/>
                <a:gridCol w="2011680"/>
                <a:gridCol w="2011680"/>
                <a:gridCol w="201168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STAGE</a:t>
                      </a:r>
                      <a:endParaRPr lang="en-US" sz="125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1. รู้จัก &amp; สั่งครั้งแรก</a:t>
                      </a:r>
                      <a:endParaRPr lang="en-US" sz="125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2. รับของครั้งแรก</a:t>
                      </a:r>
                      <a:endParaRPr lang="en-US" sz="125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3. กลับมาซื้อซ้ำ</a:t>
                      </a:r>
                      <a:endParaRPr lang="en-US" sz="125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4. คืนของ / มีปัญหา</a:t>
                      </a:r>
                      <a:endParaRPr lang="en-US" sz="125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5. เงียบหาย</a:t>
                      </a:r>
                      <a:endParaRPr lang="en-US" sz="125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A2E22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STEPS</a:t>
                      </a:r>
                      <a:endParaRPr lang="en-US" sz="12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E2761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เลือกสินค้า → สั่งซื้อ</a:t>
                      </a:r>
                      <a:endParaRPr lang="en-US" sz="125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E2761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รับของ → ตรวจของ</a:t>
                      </a:r>
                      <a:endParaRPr lang="en-US" sz="125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E2761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สั่งรอบถัดไป</a:t>
                      </a:r>
                      <a:endParaRPr lang="en-US" sz="125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E2761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(มัธยฐาน 56 วัน)</a:t>
                      </a:r>
                      <a:endParaRPr lang="en-US" sz="125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E2761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แจ้งคืน → ออกใบ C</a:t>
                      </a:r>
                      <a:endParaRPr lang="en-US" sz="125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B3402F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ไม่มีคำสั่งซื้ออีก</a:t>
                      </a:r>
                      <a:endParaRPr lang="en-US" sz="125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THOUGHTS</a:t>
                      </a:r>
                      <a:endParaRPr lang="en-US" sz="12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E2761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ราคาโอเค ลองสั่งดู</a:t>
                      </a:r>
                      <a:endParaRPr lang="en-US" sz="125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E2761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ของครบมั้ย ตรงรูปมั้ย</a:t>
                      </a:r>
                      <a:endParaRPr lang="en-US" sz="125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E2761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เจ้านี้ใช้ได้ สั่งเพิ่ม</a:t>
                      </a:r>
                      <a:endParaRPr lang="en-US" sz="125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E2761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ของพัง ต้องแจ้งใคร</a:t>
                      </a:r>
                      <a:endParaRPr lang="en-US" sz="125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B3402F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ไม่มีเสียง — ลูกค้าไม่บอกลา</a:t>
                      </a:r>
                      <a:endParaRPr lang="en-US" sz="125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C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TOUCHPOINTS</a:t>
                      </a:r>
                      <a:endParaRPr lang="en-US" sz="12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E2761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เว็บ · ใบสั่งซื้อ</a:t>
                      </a:r>
                      <a:endParaRPr lang="en-US" sz="125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E2761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พัสดุ · POSTAGE</a:t>
                      </a:r>
                      <a:endParaRPr lang="en-US" sz="125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E2761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ใบสั่งซื้อรอบใหม่</a:t>
                      </a:r>
                      <a:endParaRPr lang="en-US" sz="125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E2761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ใบลดหนี้ (Invoice C)</a:t>
                      </a:r>
                      <a:endParaRPr lang="en-US" sz="125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B3402F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ไม่มีเลย</a:t>
                      </a:r>
                      <a:endParaRPr lang="en-US" sz="125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ACTORS</a:t>
                      </a:r>
                      <a:endParaRPr lang="en-US" sz="12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E2761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ลูกค้า · ฝ่ายขาย</a:t>
                      </a:r>
                      <a:endParaRPr lang="en-US" sz="125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E2761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ขนส่ง · คลัง</a:t>
                      </a:r>
                      <a:endParaRPr lang="en-US" sz="125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E2761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ลูกค้า · ฝ่ายขาย</a:t>
                      </a:r>
                      <a:endParaRPr lang="en-US" sz="125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E2761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ฝ่ายบริการ · บัญชี</a:t>
                      </a:r>
                      <a:endParaRPr lang="en-US" sz="125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B3402F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ไม่มีใครรับผิดชอบ</a:t>
                      </a:r>
                      <a:endParaRPr lang="en-US" sz="125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C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EMOTIONS</a:t>
                      </a:r>
                      <a:endParaRPr lang="en-US" sz="12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E2761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สนใจ (+)</a:t>
                      </a:r>
                      <a:endParaRPr lang="en-US" sz="125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E2761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เฉย ๆ (0)</a:t>
                      </a:r>
                      <a:endParaRPr lang="en-US" sz="125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E2761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พอใจ (+)</a:t>
                      </a:r>
                      <a:endParaRPr lang="en-US" sz="125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E2761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หงุดหงิด (-)</a:t>
                      </a:r>
                      <a:endParaRPr lang="en-US" sz="125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B3402F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เฉยชา แล้วหายไป (-)</a:t>
                      </a:r>
                      <a:endParaRPr lang="en-US" sz="125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ที่หลุด</a:t>
                      </a:r>
                      <a:endParaRPr lang="en-US" sz="12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761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ลูกค้าที่มี ID</a:t>
                      </a:r>
                      <a:endParaRPr lang="en-US" sz="125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761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5,852 ราย</a:t>
                      </a:r>
                      <a:endParaRPr lang="en-US" sz="125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E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5B6B8C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—</a:t>
                      </a:r>
                      <a:endParaRPr lang="en-US" sz="125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E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B3402F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หลุด 1,618 ราย</a:t>
                      </a:r>
                      <a:endParaRPr lang="en-US" sz="125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B3402F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(27.65%)</a:t>
                      </a:r>
                      <a:endParaRPr lang="en-US" sz="125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E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761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2,496 ราย (42.65%)</a:t>
                      </a:r>
                      <a:endParaRPr lang="en-US" sz="125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761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เคยคืนของ</a:t>
                      </a:r>
                      <a:endParaRPr lang="en-US" sz="125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E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B3402F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2,378 ราย (40.64%)</a:t>
                      </a:r>
                      <a:endParaRPr lang="en-US" sz="125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B3402F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เงียบเกิน 180 วัน</a:t>
                      </a:r>
                      <a:endParaRPr lang="en-US" sz="125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8E3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11480" y="5577840"/>
            <a:ext cx="11384280" cy="731520"/>
          </a:xfrm>
          <a:prstGeom prst="roundRect">
            <a:avLst>
              <a:gd name="adj" fmla="val 10000"/>
            </a:avLst>
          </a:prstGeom>
          <a:solidFill>
            <a:srgbClr val="FFF4E0"/>
          </a:solidFill>
          <a:ln w="12700">
            <a:solidFill>
              <a:srgbClr val="D4A24C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12648" y="5577840"/>
            <a:ext cx="109819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b="1" dirty="0">
                <a:solidFill>
                  <a:srgbClr val="B3402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หลุดมากที่สุด: stage 2 → 3 </a:t>
            </a:r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1E2761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(รับของครั้งแรกแล้วไม่กลับมา 1,618 ราย)   ·   </a:t>
            </a:r>
            <a:pPr indent="0" marL="0">
              <a:lnSpc>
                <a:spcPct val="125000"/>
              </a:lnSpc>
              <a:buNone/>
            </a:pPr>
            <a:r>
              <a:rPr lang="en-US" sz="1350" b="1" dirty="0">
                <a:solidFill>
                  <a:srgbClr val="B3402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แพงที่สุด: stage 5 </a:t>
            </a:r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1E2761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ซึ่งไม่มี touchpoint และไม่มีใครรับผิดชอบ — ตรงกับ feedback loop ที่ขาดใน B1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457200" y="6473952"/>
            <a:ext cx="10725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B6B8C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ฟอร์แมตตามภาพตัวอย่างในโจทย์: STAGE → STEPS → THOUGHTS → TOUCHPOINTS → ACTORS → EMOTIONS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9171432" y="647395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B8C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G1-B · INT 540 Data Analytics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2194560"/>
            <a:ext cx="5669280" cy="5669280"/>
          </a:xfrm>
          <a:prstGeom prst="ellipse">
            <a:avLst/>
          </a:prstGeom>
          <a:solidFill>
            <a:srgbClr val="263480"/>
          </a:solidFill>
          <a:ln/>
        </p:spPr>
      </p:sp>
      <p:sp>
        <p:nvSpPr>
          <p:cNvPr id="3" name="Shape 1"/>
          <p:cNvSpPr/>
          <p:nvPr/>
        </p:nvSpPr>
        <p:spPr>
          <a:xfrm>
            <a:off x="-2286000" y="4389120"/>
            <a:ext cx="4937760" cy="4937760"/>
          </a:xfrm>
          <a:prstGeom prst="ellipse">
            <a:avLst/>
          </a:prstGeom>
          <a:solidFill>
            <a:srgbClr val="263480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65176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D4A24C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ส่วนที่ 3 · G1-C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22960" y="3108960"/>
            <a:ext cx="10515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จะรู้ได้ยังไงว่าทางแก้ได้ผล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822960" y="4114800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ADCFC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Balanced Scorecard — Objective · KPI · Baseline &amp; Target · Strategy Map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22960" y="6172200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AA8D6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หลักการ: ห้ามตั้ง target ลอย ๆ — ทุกตัวเลขต้องมี baseline จริงจาก G1-B/G1-D กำกับเสมอ</a:t>
            </a:r>
            <a:endParaRPr lang="en-US" sz="12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5F8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100" kern="0" dirty="0">
                <a:solidFill>
                  <a:srgbClr val="D4A24C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C1–C2 · จาก Pain Point ถึง KPI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ตรวจจับลูกค้ากำลังจะเงียบ ก่อนที่เขาจะเงียบจริง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11064240" cy="1005840"/>
          </a:xfrm>
          <a:prstGeom prst="roundRect">
            <a:avLst>
              <a:gd name="adj" fmla="val 9091"/>
            </a:avLst>
          </a:prstGeom>
          <a:solidFill>
            <a:srgbClr val="1E2761"/>
          </a:solidFill>
          <a:ln/>
          <a:effectLst>
            <a:outerShdw sx="100000" sy="100000" kx="0" ky="0" algn="bl" rotWithShape="0" blurRad="76200" dist="25400" dir="5400000">
              <a:srgbClr val="1E2761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50876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D4A24C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Objective:  </a:t>
            </a:r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ตรวจจับและรักษาลูกค้าที่กำลังจะเงียบ ก่อนที่เขาจะเงียบจริง — แทนที่จะรู้ตัวหลังยอดขายรวมตกไปแล้ว</a:t>
            </a:r>
            <a:endParaRPr lang="en-US" sz="16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788920"/>
          <a:ext cx="11064240" cy="2926080"/>
        </p:xfrm>
        <a:graphic>
          <a:graphicData uri="http://schemas.openxmlformats.org/drawingml/2006/table">
            <a:tbl>
              <a:tblPr/>
              <a:tblGrid>
                <a:gridCol w="5120640"/>
                <a:gridCol w="5943600"/>
              </a:tblGrid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CSF (นามธรรม)</a:t>
                      </a:r>
                      <a:endParaRPr lang="en-US" sz="125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KPI (ตัวเลข)</a:t>
                      </a:r>
                      <a:endParaRPr lang="en-US" sz="125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ฝ่ายขายใช้ระบบเตือนเป็นกิจวัตร</a:t>
                      </a:r>
                      <a:endParaRPr lang="en-US" sz="12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5B6B8C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% สัปดาห์ที่มีการทบทวนรายชื่อลูกค้าเสี่ยง</a:t>
                      </a:r>
                      <a:endParaRPr lang="en-US" sz="12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ตรวจจับลูกค้าเสี่ยงได้ทันเวลา ก่อนเงียบครบเกณฑ์</a:t>
                      </a:r>
                      <a:endParaRPr lang="en-US" sz="12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5B6B8C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% ลูกค้าเสี่ยงสูงที่ถูกติดต่อภายใน 30 วันหลังถูกแจ้งเตือน</a:t>
                      </a:r>
                      <a:endParaRPr lang="en-US" sz="12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C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ลูกค้ากลับมาซื้อซ้ำเร็วขึ้นและสม่ำเสมอขึ้น</a:t>
                      </a:r>
                      <a:endParaRPr lang="en-US" sz="12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5B6B8C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อัตราซื้อซ้ำ · เวลาถึงการซื้อครั้งที่ 2 · % เงียบ &gt;180 วัน</a:t>
                      </a:r>
                      <a:endParaRPr lang="en-US" sz="12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รายได้จากลูกค้าประจำไม่รั่วออกจากฐาน</a:t>
                      </a:r>
                      <a:endParaRPr lang="en-US" sz="12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5B6B8C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มูลค่าที่กู้คืนได้จากกลุ่มเสี่ยง · อัตราคืนสินค้าจริง</a:t>
                      </a:r>
                      <a:endParaRPr lang="en-US" sz="12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C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457200" y="6473952"/>
            <a:ext cx="10725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B6B8C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pain point ต้นทาง: ลูกค้าเงียบ 40.64% (ถือ 13.49% ของยอดขาย) · เวลาถึงการซื้อครั้งที่ 2 มัธยฐาน 56 วัน — ไม่มีขั้นตอนใดจับสัญญาณก่อนหน้านั้น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9171432" y="647395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B8C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G1-C · INT 540 Data Analytics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5F8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100" kern="0" dirty="0">
                <a:solidFill>
                  <a:srgbClr val="D4A24C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C3–C4 · Baseline, Target, Measure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2 มิติบนตั้งเลขได้ตรง ๆ · 2 มิติล่างรอ Goal 2 ยืนยัน</a:t>
            </a:r>
            <a:endParaRPr lang="en-US" sz="30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17320"/>
          <a:ext cx="11292840" cy="3749040"/>
        </p:xfrm>
        <a:graphic>
          <a:graphicData uri="http://schemas.openxmlformats.org/drawingml/2006/table">
            <a:tbl>
              <a:tblPr/>
              <a:tblGrid>
                <a:gridCol w="2834640"/>
                <a:gridCol w="1828800"/>
                <a:gridCol w="2834640"/>
                <a:gridCol w="3794760"/>
              </a:tblGrid>
              <a:tr h="6217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มิติ / KPI</a:t>
                      </a:r>
                      <a:endParaRPr lang="en-US" sz="125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Baseline (จริง)</a:t>
                      </a:r>
                      <a:endParaRPr lang="en-US" sz="125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Target</a:t>
                      </a:r>
                      <a:endParaRPr lang="en-US" sz="125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วัดยังไง / ใครวัด</a:t>
                      </a:r>
                      <a:endParaRPr lang="en-US" sz="125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L&amp;G — % สัปดาห์ที่ทบทวนรายชื่อ</a:t>
                      </a:r>
                      <a:endParaRPr lang="en-US" sz="12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B3402F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0%</a:t>
                      </a:r>
                      <a:endParaRPr lang="en-US" sz="12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5B6B8C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100% ตั้งแต่สัปดาห์แรก</a:t>
                      </a:r>
                      <a:endParaRPr lang="en-US" sz="12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5B6B8C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log การเปิด worklist · หัวหน้าฝ่ายขาย</a:t>
                      </a:r>
                      <a:endParaRPr lang="en-US" sz="12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Internal — % ติดต่อภายใน 30 วัน</a:t>
                      </a:r>
                      <a:endParaRPr lang="en-US" sz="12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B3402F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0%</a:t>
                      </a:r>
                      <a:endParaRPr lang="en-US" sz="12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5B6B8C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≥80% ภายในไตรมาสแรก</a:t>
                      </a:r>
                      <a:endParaRPr lang="en-US" sz="12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5B6B8C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เทียบวันแจ้งเตือน-วันติดต่อ · หัวหน้าฝ่ายขาย</a:t>
                      </a:r>
                      <a:endParaRPr lang="en-US" sz="12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C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Customer — อัตราซื้อซ้ำ</a:t>
                      </a:r>
                      <a:endParaRPr lang="en-US" sz="12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5B8A5E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72.35%</a:t>
                      </a:r>
                      <a:endParaRPr lang="en-US" sz="12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5B6B8C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รักษาไว้ไม่ให้ลดลง</a:t>
                      </a:r>
                      <a:endParaRPr lang="en-US" sz="12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5B6B8C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จาก transaction log · ทีมวิเคราะห์ (รายไตรมาส)</a:t>
                      </a:r>
                      <a:endParaRPr lang="en-US" sz="12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Customer — เงียบ &gt;180 วัน</a:t>
                      </a:r>
                      <a:endParaRPr lang="en-US" sz="12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B3402F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40.64%</a:t>
                      </a:r>
                      <a:endParaRPr lang="en-US" sz="12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5B6B8C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ลดลง — รอผล backtest Goal 2</a:t>
                      </a:r>
                      <a:endParaRPr lang="en-US" sz="12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5B6B8C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recency ทุกลูกค้า · ทีมวิเคราะห์ (รายเดือน)</a:t>
                      </a:r>
                      <a:endParaRPr lang="en-US" sz="12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C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Financial — มูลค่าที่เสี่ยง</a:t>
                      </a:r>
                      <a:endParaRPr lang="en-US" sz="12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B3402F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£813,004</a:t>
                      </a:r>
                      <a:endParaRPr lang="en-US" sz="12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5B6B8C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กู้คืนบางส่วน — สมมติฐานรอพิสูจน์</a:t>
                      </a:r>
                      <a:endParaRPr lang="en-US" sz="12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5B6B8C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เทียบยอดซื้อก่อน-หลังติดต่อ · ทีม+บัญชี</a:t>
                      </a:r>
                      <a:endParaRPr lang="en-US" sz="12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Financial — อัตราคืนสินค้าจริง</a:t>
                      </a:r>
                      <a:endParaRPr lang="en-US" sz="12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5B6B8C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3.61%</a:t>
                      </a:r>
                      <a:endParaRPr lang="en-US" sz="12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5B6B8C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ติดตามต่อ ไม่ใช่ KPI หลัก</a:t>
                      </a:r>
                      <a:endParaRPr lang="en-US" sz="12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5B6B8C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กรอง StockCode สินค้าจริงเท่านั้น · รายเดือน</a:t>
                      </a:r>
                      <a:endParaRPr lang="en-US" sz="12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C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5349240"/>
            <a:ext cx="11292840" cy="914400"/>
          </a:xfrm>
          <a:prstGeom prst="roundRect">
            <a:avLst>
              <a:gd name="adj" fmla="val 8000"/>
            </a:avLst>
          </a:prstGeom>
          <a:solidFill>
            <a:srgbClr val="FBE9E7"/>
          </a:solidFill>
          <a:ln w="12700">
            <a:solidFill>
              <a:srgbClr val="B3402F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58368" y="5349240"/>
            <a:ext cx="108905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b="1" dirty="0">
                <a:solidFill>
                  <a:srgbClr val="B3402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ทำไม 2 มิติล่างไม่ตั้งตัวเลข target ตรง ๆ: </a:t>
            </a:r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1E2761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ไม่มีข้อมูลแคมเปญ/กลุ่มควบคุม พิสูจน์ไม่ได้ว่าติดต่อแล้วทำให้ลูกค้ากลับมาจริงกี่ % — ตั้งเลขลอย ๆ ตรงนี้ถือว่าผิดกติกาของงาน (ห้ามตั้ง target ที่ไม่มี baseline)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457200" y="6473952"/>
            <a:ext cx="10725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B6B8C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ที่มา: g1b.py (baseline B3/B4) + g1d.py (verification) — ดู g1-c-balanced-scorecard.md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9171432" y="647395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B8C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G1-C · INT 540 Data Analytics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5F8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100" kern="0" dirty="0">
                <a:solidFill>
                  <a:srgbClr val="D4A24C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C5 · Balanced Scorecard 4 มิติ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Strategy Map — เหตุ-ผลจากล่างขึ้นบน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6583680" cy="960120"/>
          </a:xfrm>
          <a:prstGeom prst="roundRect">
            <a:avLst>
              <a:gd name="adj" fmla="val 7619"/>
            </a:avLst>
          </a:prstGeom>
          <a:solidFill>
            <a:srgbClr val="5B8A5E"/>
          </a:solidFill>
          <a:ln/>
          <a:effectLst>
            <a:outerShdw sx="100000" sy="100000" kx="0" ky="0" algn="bl" rotWithShape="0" blurRad="76200" dist="25400" dir="5400000">
              <a:srgbClr val="1E2761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536192"/>
            <a:ext cx="2011680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4A24C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Learning &amp; Growth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2880360" y="1517904"/>
            <a:ext cx="416052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ฝ่ายขายใช้ worklist เป็นกิจวัตร
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% สัปดาห์ที่มีการทบทวนรายชื่อ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2679192"/>
            <a:ext cx="6583680" cy="960120"/>
          </a:xfrm>
          <a:prstGeom prst="roundRect">
            <a:avLst>
              <a:gd name="adj" fmla="val 7619"/>
            </a:avLst>
          </a:prstGeom>
          <a:solidFill>
            <a:srgbClr val="2E5A8A"/>
          </a:solidFill>
          <a:ln/>
          <a:effectLst>
            <a:outerShdw sx="100000" sy="100000" kx="0" ky="0" algn="bl" rotWithShape="0" blurRad="76200" dist="25400" dir="5400000">
              <a:srgbClr val="1E2761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77240" y="2752344"/>
            <a:ext cx="2011680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4A24C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Internal Process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2880360" y="2734056"/>
            <a:ext cx="416052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ตรวจจับลูกค้าเสี่ยงก่อนเงียบครบ 180 วัน
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% เสี่ยงสูงที่ถูกติดต่อใน 30 วัน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3566160" y="2386584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↑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548640" y="3895344"/>
            <a:ext cx="6583680" cy="960120"/>
          </a:xfrm>
          <a:prstGeom prst="roundRect">
            <a:avLst>
              <a:gd name="adj" fmla="val 7619"/>
            </a:avLst>
          </a:prstGeom>
          <a:solidFill>
            <a:srgbClr val="1E2761"/>
          </a:solidFill>
          <a:ln/>
          <a:effectLst>
            <a:outerShdw sx="100000" sy="100000" kx="0" ky="0" algn="bl" rotWithShape="0" blurRad="76200" dist="25400" dir="5400000">
              <a:srgbClr val="1E2761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777240" y="3968496"/>
            <a:ext cx="2011680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4A24C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Customer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2880360" y="3950208"/>
            <a:ext cx="416052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ลูกค้ากลับมาซื้อซ้ำเร็วขึ้น มากขึ้น
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อัตราซื้อซ้ำ · เวลาถึงซื้อครั้งที่ 2 · % เงียบ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3566160" y="3602736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↑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548640" y="5111496"/>
            <a:ext cx="6583680" cy="960120"/>
          </a:xfrm>
          <a:prstGeom prst="roundRect">
            <a:avLst>
              <a:gd name="adj" fmla="val 7619"/>
            </a:avLst>
          </a:prstGeom>
          <a:solidFill>
            <a:srgbClr val="8A2E22"/>
          </a:solidFill>
          <a:ln/>
          <a:effectLst>
            <a:outerShdw sx="100000" sy="100000" kx="0" ky="0" algn="bl" rotWithShape="0" blurRad="76200" dist="25400" dir="5400000">
              <a:srgbClr val="1E2761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777240" y="5184648"/>
            <a:ext cx="2011680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4A24C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Financial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2880360" y="5166360"/>
            <a:ext cx="416052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รักษารายได้จากลูกค้าประจำ
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มูลค่าที่กู้คืนได้ · อัตราคืนสินค้าจริง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3566160" y="4818888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↑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7406640" y="1463040"/>
            <a:ext cx="4206240" cy="4709160"/>
          </a:xfrm>
          <a:prstGeom prst="roundRect">
            <a:avLst>
              <a:gd name="adj" fmla="val 2174"/>
            </a:avLst>
          </a:prstGeom>
          <a:solidFill>
            <a:srgbClr val="FFF4E0"/>
          </a:solidFill>
          <a:ln w="12700">
            <a:solidFill>
              <a:srgbClr val="D4A24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635240" y="1627632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4A24C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การคืนของอยู่ตรงไหนใน BSC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7635240" y="2103120"/>
            <a:ext cx="374904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E2761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แยก 2 ตัวชี้วัดตามคำตัดสิน 10 ก.ย.: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E2761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อัตราคืนสินค้าจริง 3.61% → KPI มิติ Customer/Financial ที่ฝ่ายขายมีผลได้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E2761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รายการปรับปรุง/ค่าธรรมเนียม £800,079 → ไม่ใช่ KPI ของ solution นี้ เป็นเรื่องบัญชี ไม่ผูกกับ objective เรื่องลูกค้า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57200" y="6473952"/>
            <a:ext cx="10725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B6B8C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ทุกลูกศรอ่านจากล่างขึ้นบน: L&amp;G ทำได้ก่อน → Internal Process ตามมา → Customer ดีขึ้น → Financial รักษาไว้ได้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9171432" y="647395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B8C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G1-C · INT 540 Data Analytics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2194560"/>
            <a:ext cx="5669280" cy="5669280"/>
          </a:xfrm>
          <a:prstGeom prst="ellipse">
            <a:avLst/>
          </a:prstGeom>
          <a:solidFill>
            <a:srgbClr val="263480"/>
          </a:solidFill>
          <a:ln/>
        </p:spPr>
      </p:sp>
      <p:sp>
        <p:nvSpPr>
          <p:cNvPr id="3" name="Shape 1"/>
          <p:cNvSpPr/>
          <p:nvPr/>
        </p:nvSpPr>
        <p:spPr>
          <a:xfrm>
            <a:off x="-2286000" y="4389120"/>
            <a:ext cx="4937760" cy="4937760"/>
          </a:xfrm>
          <a:prstGeom prst="ellipse">
            <a:avLst/>
          </a:prstGeom>
          <a:solidFill>
            <a:srgbClr val="263480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65176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D4A24C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ส่วนที่ 4 · G1-D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22960" y="3108960"/>
            <a:ext cx="10515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จากไฟล์แบนราบ สู่ข้อมูลที่พร้อมวิเคราะห์จริง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822960" y="4114800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ADCFC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การตัดสินใจจัดการข้อมูล · EDA · Data Model + SQL · 5V Characteristics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22960" y="6172200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AA8D6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ฐานคำนวณ: 1,067,371 แถวดิบ → 1,037,007 แถวขายจริง (97.16%) · ตัดออกเพียง 2.84% ตามเหตุผลที่ระบุทุกข้อ</a:t>
            </a:r>
            <a:endParaRPr lang="en-US" sz="12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5F8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100" kern="0" dirty="0">
                <a:solidFill>
                  <a:srgbClr val="D4A24C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D4 · ตัดสินใจจัดการข้อมูล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ทุกปัญหามีเหตุผลกำกับ — ห้ามลบเงียบ ๆ</a:t>
            </a:r>
            <a:endParaRPr lang="en-US" sz="30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17320"/>
          <a:ext cx="11292840" cy="4297680"/>
        </p:xfrm>
        <a:graphic>
          <a:graphicData uri="http://schemas.openxmlformats.org/drawingml/2006/table">
            <a:tbl>
              <a:tblPr/>
              <a:tblGrid>
                <a:gridCol w="4206240"/>
                <a:gridCol w="7086600"/>
              </a:tblGrid>
              <a:tr h="7132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ปัญหา (ขนาด)</a:t>
                      </a:r>
                      <a:endParaRPr lang="en-US" sz="125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การตัดสินใจ</a:t>
                      </a:r>
                      <a:endParaRPr lang="en-US" sz="125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แถวซ้ำ (34,335 · 3.2%)</a:t>
                      </a:r>
                      <a:endParaRPr lang="en-US" sz="12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5B6B8C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ตัดออกก่อนคำนวณทุกตัวเลข — export ซ้ำเป๊ะ ไม่ใช่ธุรกรรมจริง 2 รายการ</a:t>
                      </a:r>
                      <a:endParaRPr lang="en-US" sz="12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Customer ID หาย (243,007 · 22.77% แถว, 12.68% ยอดขาย)</a:t>
                      </a:r>
                      <a:endParaRPr lang="en-US" sz="12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5B6B8C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เก็บในยอดขายรวม แต่ตัดออกจากตัวเลขระดับลูกค้าทั้งหมด</a:t>
                      </a:r>
                      <a:endParaRPr lang="en-US" sz="12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C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ใบ C / ยกเลิก (19,494 แถว, -£1,526,668)</a:t>
                      </a:r>
                      <a:endParaRPr lang="en-US" sz="12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5B6B8C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แยกออกจากยอดขาย ไม่ลบทิ้ง — เก็บไว้ตอบคำถามเรื่องคืนของต่างหาก</a:t>
                      </a:r>
                      <a:endParaRPr lang="en-US" sz="12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Quantity ติดลบ นอกใบ C (3,457 แถว)</a:t>
                      </a:r>
                      <a:endParaRPr lang="en-US" sz="12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5B6B8C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ตัดออกจากยอดขาย (เหมือนใบ C) · ทำเครื่องหมายไว้สืบต่อใน Goal 2</a:t>
                      </a:r>
                      <a:endParaRPr lang="en-US" sz="12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C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Price = 0 / ติดลบ (6,207 แถว)</a:t>
                      </a:r>
                      <a:endParaRPr lang="en-US" sz="12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5B6B8C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ตัดออกจากยอดขาย — ของแจกฟรี/รายการปรับปรุงบัญชี ไม่ใช่รายได้</a:t>
                      </a:r>
                      <a:endParaRPr lang="en-US" sz="12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StockCode ไม่ใช่สินค้า (5,913 แถว)</a:t>
                      </a:r>
                      <a:endParaRPr lang="en-US" sz="12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5B6B8C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ตัดออกจากยอดขายสินค้าเสมอ ไม่ว่าจะอยู่ใบปกติหรือใบ C</a:t>
                      </a:r>
                      <a:endParaRPr lang="en-US" sz="12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C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6473952"/>
            <a:ext cx="10725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B6B8C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ผลรวม: เหลือ 1,037,007 แถวเป็นฐานคำนวณยอดขาย (97.16%) — ตัดออกเพียง 2.84% ส่วนใหญ่คือ "ข้อมูลจริงที่ไม่ใช่ยอดขายสินค้า" ไม่ใช่ข้อมูลเสีย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9171432" y="647395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B8C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G1-D · INT 540 Data Analytics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5F8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100" kern="0" dirty="0">
                <a:solidFill>
                  <a:srgbClr val="D4A24C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D5 · EDA (1/2)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ฤดูกาลคริสต์มาสชัดเจน และสินค้าขายดี 2 แบบ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463040"/>
          <a:ext cx="640080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4800600"/>
            <a:ext cx="310896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E2761">
                <a:alpha val="18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566928" y="4892040"/>
            <a:ext cx="2889504" cy="60990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D4A24C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27.32%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548640" y="5431536"/>
            <a:ext cx="2926080" cy="3995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B8C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ของยอดขายทั้งปี มาจาก พ.ย.–ธ.ค.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3749040" y="4800600"/>
            <a:ext cx="310896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E2761">
                <a:alpha val="18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3858768" y="4892040"/>
            <a:ext cx="2889504" cy="60990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£1.10M</a:t>
            </a:r>
            <a:endParaRPr lang="en-US" sz="2600" dirty="0"/>
          </a:p>
        </p:txBody>
      </p:sp>
      <p:sp>
        <p:nvSpPr>
          <p:cNvPr id="10" name="Text 7"/>
          <p:cNvSpPr/>
          <p:nvPr/>
        </p:nvSpPr>
        <p:spPr>
          <a:xfrm>
            <a:off x="3840480" y="5431536"/>
            <a:ext cx="2926080" cy="3995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B8C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เฉลี่ยเดือน พ.ย.–ธ.ค. (vs £0.73M เดือนอื่น)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7178040" y="1463040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1E2761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สินค้าขายดี — คนละแบบ ตามรายได้ vs จำนวนชิ้น</a:t>
            </a:r>
            <a:endParaRPr lang="en-US" sz="15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178040" y="2103120"/>
          <a:ext cx="4480560" cy="1554480"/>
        </p:xfrm>
        <a:graphic>
          <a:graphicData uri="http://schemas.openxmlformats.org/drawingml/2006/table">
            <a:tbl>
              <a:tblPr/>
              <a:tblGrid>
                <a:gridCol w="1188720"/>
                <a:gridCol w="1645920"/>
                <a:gridCol w="1645920"/>
              </a:tblGrid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อันดับ 1</a:t>
                      </a:r>
                      <a:endParaRPr lang="en-US" sz="125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ตามรายได้</a:t>
                      </a:r>
                      <a:endParaRPr lang="en-US" sz="125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ตามจำนวนชิ้น</a:t>
                      </a:r>
                      <a:endParaRPr lang="en-US" sz="125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2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5B6B8C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CAKESTAND 3 TIER</a:t>
                      </a:r>
                      <a:endParaRPr lang="en-US" sz="12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5B6B8C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£344,563</a:t>
                      </a:r>
                      <a:endParaRPr lang="en-US" sz="12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5B6B8C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WW2 GLIDERS</a:t>
                      </a:r>
                      <a:endParaRPr lang="en-US" sz="12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5B6B8C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110,138 ชิ้น</a:t>
                      </a:r>
                      <a:endParaRPr lang="en-US" sz="12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อันดับ 2</a:t>
                      </a:r>
                      <a:endParaRPr lang="en-US" sz="12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5B6B8C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T-LIGHT HOLDER</a:t>
                      </a:r>
                      <a:endParaRPr lang="en-US" sz="12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5B6B8C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£263,110</a:t>
                      </a:r>
                      <a:endParaRPr lang="en-US" sz="12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5B6B8C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JUMBO BAG RETROSPOT</a:t>
                      </a:r>
                      <a:endParaRPr lang="en-US" sz="12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5B6B8C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98,349 ชิ้น</a:t>
                      </a:r>
                      <a:endParaRPr lang="en-US" sz="12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C"/>
                    </a:solidFill>
                  </a:tcPr>
                </a:tc>
              </a:tr>
            </a:tbl>
          </a:graphicData>
        </a:graphic>
      </p:graphicFrame>
      <p:sp>
        <p:nvSpPr>
          <p:cNvPr id="13" name="Shape 9"/>
          <p:cNvSpPr/>
          <p:nvPr/>
        </p:nvSpPr>
        <p:spPr>
          <a:xfrm>
            <a:off x="7178040" y="3931920"/>
            <a:ext cx="4480560" cy="1920240"/>
          </a:xfrm>
          <a:prstGeom prst="roundRect">
            <a:avLst>
              <a:gd name="adj" fmla="val 3810"/>
            </a:avLst>
          </a:prstGeom>
          <a:solidFill>
            <a:srgbClr val="FFF4E0"/>
          </a:solidFill>
          <a:ln w="12700">
            <a:solidFill>
              <a:srgbClr val="D4A24C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7379208" y="3931920"/>
            <a:ext cx="407822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b="1" dirty="0">
                <a:solidFill>
                  <a:srgbClr val="1E2761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สินค้าราคาสูงขายน้อยชิ้น ≠ สินค้าราคาถูกขายเยอะ — </a:t>
            </a:r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1E2761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ตรงกับที่ G1-A ระบุลูกค้า 2 กลุ่ม (ปลีก/ขายส่ง): กลุ่มขายส่งซื้อของราคาถูกจำนวนมาก กลุ่มปลีกซื้อของราคาสูงจำนวนน้อย</a:t>
            </a:r>
            <a:endParaRPr lang="en-US" sz="1350" dirty="0"/>
          </a:p>
        </p:txBody>
      </p:sp>
      <p:sp>
        <p:nvSpPr>
          <p:cNvPr id="15" name="Text 11"/>
          <p:cNvSpPr/>
          <p:nvPr/>
        </p:nvSpPr>
        <p:spPr>
          <a:xfrm>
            <a:off x="457200" y="6473952"/>
            <a:ext cx="10725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B6B8C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ธ.ค. 2011 ต่ำผิดปกติเพราะข้อมูลตัดที่วันที่ 9 ธ.ค. — ยังไม่ครบเดือน ไม่ใช่ยอดขายตกจริง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9171432" y="647395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B8C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G1-D · INT 540 Data Analytics</a:t>
            </a:r>
            <a:endParaRPr lang="en-US" sz="11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5F8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100" kern="0" dirty="0">
                <a:solidFill>
                  <a:srgbClr val="D4A24C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D5 · EDA (2/2)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กระจายตามประเทศ และมูลค่าตะกร้า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463040"/>
          <a:ext cx="5120640" cy="3017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5943600" y="146304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มูลค่าตะกร้าต่อ 1 ใบเสร็จ (£)</a:t>
            </a:r>
            <a:endParaRPr lang="en-US" sz="16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0" y="1874520"/>
          <a:ext cx="5669280" cy="2194560"/>
        </p:xfrm>
        <a:graphic>
          <a:graphicData uri="http://schemas.openxmlformats.org/drawingml/2006/table">
            <a:tbl>
              <a:tblPr/>
              <a:tblGrid>
                <a:gridCol w="2834640"/>
                <a:gridCol w="2834640"/>
              </a:tblGrid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สถิติ</a:t>
                      </a:r>
                      <a:endParaRPr lang="en-US" sz="125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ค่า (£)</a:t>
                      </a:r>
                      <a:endParaRPr lang="en-US" sz="125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P25</a:t>
                      </a:r>
                      <a:endParaRPr lang="en-US" sz="12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5B6B8C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152.55</a:t>
                      </a:r>
                      <a:endParaRPr lang="en-US" sz="12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มัธยฐาน</a:t>
                      </a:r>
                      <a:endParaRPr lang="en-US" sz="12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303.22</a:t>
                      </a:r>
                      <a:endParaRPr lang="en-US" sz="12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เฉลี่ย</a:t>
                      </a:r>
                      <a:endParaRPr lang="en-US" sz="12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D4A24C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509.18</a:t>
                      </a:r>
                      <a:endParaRPr lang="en-US" sz="12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P75</a:t>
                      </a:r>
                      <a:endParaRPr lang="en-US" sz="12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5B6B8C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496.30</a:t>
                      </a:r>
                      <a:endParaRPr lang="en-US" sz="12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P95</a:t>
                      </a:r>
                      <a:endParaRPr lang="en-US" sz="12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5B6B8C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1,450.64</a:t>
                      </a:r>
                      <a:endParaRPr lang="en-US" sz="12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457200" y="4709160"/>
            <a:ext cx="11155680" cy="1280160"/>
          </a:xfrm>
          <a:prstGeom prst="roundRect">
            <a:avLst>
              <a:gd name="adj" fmla="val 5714"/>
            </a:avLst>
          </a:prstGeom>
          <a:solidFill>
            <a:srgbClr val="FFF4E0"/>
          </a:solidFill>
          <a:ln w="12700">
            <a:solidFill>
              <a:srgbClr val="D4A24C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658368" y="4709160"/>
            <a:ext cx="107533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b="1" dirty="0">
                <a:solidFill>
                  <a:srgbClr val="1E2761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เฉลี่ย (£509) สูงกว่ามัธยฐาน (£303) มาก — </a:t>
            </a:r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1E2761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แปลว่ามีตะกร้าขนาดใหญ่ผิดปกติ (ลูกค้าขายส่ง) ดึงค่าเฉลี่ยขึ้น สอดคล้องกับ P95 ที่กระโดดไปถึง £1,450 · ยืนยันการมีลูกค้า 2 กลุ่มอีกครั้งด้วยมุมมองคนละมุมจาก G1-A · นอก UK ประเทศที่ขายดีสุด: EIRE, Netherlands, Germany, France</a:t>
            </a:r>
            <a:endParaRPr lang="en-US" sz="1350" dirty="0"/>
          </a:p>
        </p:txBody>
      </p:sp>
      <p:sp>
        <p:nvSpPr>
          <p:cNvPr id="9" name="Text 5"/>
          <p:cNvSpPr/>
          <p:nvPr/>
        </p:nvSpPr>
        <p:spPr>
          <a:xfrm>
            <a:off x="457200" y="6473952"/>
            <a:ext cx="10725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B6B8C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UK ครองยอดขาย 85.71% — ธุรกิจกระจุกตัวหนัก เป็นความเสี่ยงเชิงกลยุทธ์ที่ต้องพูดถึง</a:t>
            </a:r>
            <a:endParaRPr lang="en-US" sz="1100" dirty="0"/>
          </a:p>
        </p:txBody>
      </p:sp>
      <p:sp>
        <p:nvSpPr>
          <p:cNvPr id="10" name="Text 6"/>
          <p:cNvSpPr/>
          <p:nvPr/>
        </p:nvSpPr>
        <p:spPr>
          <a:xfrm>
            <a:off x="9171432" y="647395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B8C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G1-D · INT 540 Data Analytics</a:t>
            </a:r>
            <a:endParaRPr lang="en-US" sz="11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5F8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100" kern="0" dirty="0">
                <a:solidFill>
                  <a:srgbClr val="D4A24C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D6 · Data Model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จาก Flat File (Traditional File Environment) สู่ 4 ตาราง Normalize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2377440" cy="1554480"/>
          </a:xfrm>
          <a:prstGeom prst="roundRect">
            <a:avLst>
              <a:gd name="adj" fmla="val 4706"/>
            </a:avLst>
          </a:prstGeom>
          <a:solidFill>
            <a:srgbClr val="1E2761"/>
          </a:solidFill>
          <a:ln/>
          <a:effectLst>
            <a:outerShdw sx="100000" sy="100000" kx="0" ky="0" algn="bl" rotWithShape="0" blurRad="76200" dist="25400" dir="5400000">
              <a:srgbClr val="1E2761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6002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D4A24C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CUSTOMER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85800" y="201168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Customer_ID [PK]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Country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429000" y="1508760"/>
            <a:ext cx="2377440" cy="1554480"/>
          </a:xfrm>
          <a:prstGeom prst="roundRect">
            <a:avLst>
              <a:gd name="adj" fmla="val 4706"/>
            </a:avLst>
          </a:prstGeom>
          <a:solidFill>
            <a:srgbClr val="1E2761"/>
          </a:solidFill>
          <a:ln/>
          <a:effectLst>
            <a:outerShdw sx="100000" sy="100000" kx="0" ky="0" algn="bl" rotWithShape="0" blurRad="76200" dist="25400" dir="5400000">
              <a:srgbClr val="1E2761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429000" y="16002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D4A24C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INVOICE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566160" y="201168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Invoice [PK]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InvoiceDate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Customer_ID [FK]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309360" y="1508760"/>
            <a:ext cx="2377440" cy="1554480"/>
          </a:xfrm>
          <a:prstGeom prst="roundRect">
            <a:avLst>
              <a:gd name="adj" fmla="val 4706"/>
            </a:avLst>
          </a:prstGeom>
          <a:solidFill>
            <a:srgbClr val="1E2761"/>
          </a:solidFill>
          <a:ln/>
          <a:effectLst>
            <a:outerShdw sx="100000" sy="100000" kx="0" ky="0" algn="bl" rotWithShape="0" blurRad="76200" dist="25400" dir="5400000">
              <a:srgbClr val="1E2761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309360" y="16002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D4A24C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INVOICE_LINE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446520" y="201168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Invoice [FK]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StockCode [FK]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Quantity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Price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9189720" y="1508760"/>
            <a:ext cx="2377440" cy="1554480"/>
          </a:xfrm>
          <a:prstGeom prst="roundRect">
            <a:avLst>
              <a:gd name="adj" fmla="val 4706"/>
            </a:avLst>
          </a:prstGeom>
          <a:solidFill>
            <a:srgbClr val="1E2761"/>
          </a:solidFill>
          <a:ln/>
          <a:effectLst>
            <a:outerShdw sx="100000" sy="100000" kx="0" ky="0" algn="bl" rotWithShape="0" blurRad="76200" dist="25400" dir="5400000">
              <a:srgbClr val="1E2761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189720" y="16002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D4A24C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PRODUCT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9326880" y="201168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StockCode [PK]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Description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2971800" y="1965960"/>
            <a:ext cx="457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→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5852160" y="1965960"/>
            <a:ext cx="457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→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8732520" y="1965960"/>
            <a:ext cx="457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→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548640" y="3383280"/>
            <a:ext cx="11064240" cy="1417320"/>
          </a:xfrm>
          <a:prstGeom prst="roundRect">
            <a:avLst>
              <a:gd name="adj" fmla="val 6452"/>
            </a:avLst>
          </a:prstGeom>
          <a:solidFill>
            <a:srgbClr val="FFF4E0"/>
          </a:solidFill>
          <a:ln w="12700">
            <a:solidFill>
              <a:srgbClr val="D4A24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2960" y="3383280"/>
            <a:ext cx="105156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b="1" dirty="0">
                <a:solidFill>
                  <a:srgbClr val="D4A24C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ทำไม Price อยู่ที่ INVOICE_LINE ไม่ใช่ PRODUCT:  </a:t>
            </a:r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1E2761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ทดลองเก็บราคาเดียวต่อสินค้า (median) ที่ PRODUCT ก่อน แล้วพบว่าราคาสินค้าเดียวกันเปลี่ยนตามเวลา/ลูกค้า ทำให้ยอดขายที่ JOIN คำนวณคลาดจากยอดขายจริงได้เกือบ 4 เท่าในบางประเทศ — ระบบวางบิลจริงล็อกราคาไว้ ณ วันที่ขาย ไม่อ้างอิงราคาปัจจุบันย้อนหลัง จึงย้าย Price มาไว้ที่ INVOICE_LINE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548640" y="5074920"/>
            <a:ext cx="11064240" cy="1234440"/>
          </a:xfrm>
          <a:prstGeom prst="roundRect">
            <a:avLst>
              <a:gd name="adj" fmla="val 5926"/>
            </a:avLst>
          </a:prstGeom>
          <a:solidFill>
            <a:srgbClr val="FBE9E7"/>
          </a:solidFill>
          <a:ln w="12700">
            <a:solidFill>
              <a:srgbClr val="B3402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49808" y="5074920"/>
            <a:ext cx="1066190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b="1" dirty="0">
                <a:solidFill>
                  <a:srgbClr val="B3402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ปัญหา flat file ที่เจอจริง: </a:t>
            </a:r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1E2761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ไม่มี foreign key เชื่อมใบ C กลับไปใบขายเดิม (จับคู่ได้แค่ Customer ID + StockCode + วันที่ใกล้กัน) · ราคาสินค้าปนอยู่ทุกแถวไม่มีที่เก็บแยก · Description สะกดต่างกันในหลายแถว — ปัญหาคลาสสิกของ traditional file environment ตรงตามที่เรียนคาบ 27 ส.ค.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457200" y="6473952"/>
            <a:ext cx="10725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B6B8C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จำนวนแถวจริง: CUSTOMER 5,852 · PRODUCT 4,898 · INVOICE 36,594 · INVOICE_LINE 802,634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9171432" y="647395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B8C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G1-D · INT 540 Data Analytics</a:t>
            </a:r>
            <a:endParaRPr lang="en-US" sz="11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5F8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100" kern="0" dirty="0">
                <a:solidFill>
                  <a:srgbClr val="D4A24C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D7 · SQL ที่ JOIN ตอบคำถามธุรกิจ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นอก UK ประเทศไหนสร้างรายได้มากที่สุด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11064240" cy="1417320"/>
          </a:xfrm>
          <a:prstGeom prst="roundRect">
            <a:avLst>
              <a:gd name="adj" fmla="val 5161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536192"/>
            <a:ext cx="10607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c.Country, COUNT(DISTINCT c.Customer_ID) n_customers, COUNT(DISTINCT i.Invoice) n_orders,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ROUND(SUM(il.Quantity * il.Price), 2) revenue_gbp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CUSTOMER c JOIN INVOICE i ON i.Customer_ID = c.Customer_ID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JOIN INVOICE_LINE il ON il.Invoice = i.Invoice JOIN PRODUCT p ON p.StockCode = il.StockCode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c.Country != 'United Kingdom' GROUP BY c.Country ORDER BY revenue_gbp DESC LIMIT 10;</a:t>
            </a:r>
            <a:endParaRPr lang="en-US" sz="1200" dirty="0"/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108960"/>
          <a:ext cx="6492240" cy="2331720"/>
        </p:xfrm>
        <a:graphic>
          <a:graphicData uri="http://schemas.openxmlformats.org/drawingml/2006/table">
            <a:tbl>
              <a:tblPr/>
              <a:tblGrid>
                <a:gridCol w="2103120"/>
                <a:gridCol w="1371600"/>
                <a:gridCol w="1371600"/>
                <a:gridCol w="164592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Country</a:t>
                      </a:r>
                      <a:endParaRPr lang="en-US" sz="125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n_customers</a:t>
                      </a:r>
                      <a:endParaRPr lang="en-US" sz="125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n_orders</a:t>
                      </a:r>
                      <a:endParaRPr lang="en-US" sz="125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revenue_gbp</a:t>
                      </a:r>
                      <a:endParaRPr lang="en-US" sz="125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D4A24C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EIRE</a:t>
                      </a:r>
                      <a:endParaRPr lang="en-US" sz="12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5B6B8C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3</a:t>
                      </a:r>
                      <a:endParaRPr lang="en-US" sz="12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5B6B8C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528</a:t>
                      </a:r>
                      <a:endParaRPr lang="en-US" sz="12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5B6B8C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591,536.65</a:t>
                      </a:r>
                      <a:endParaRPr lang="en-US" sz="12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Netherlands</a:t>
                      </a:r>
                      <a:endParaRPr lang="en-US" sz="12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5B6B8C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22</a:t>
                      </a:r>
                      <a:endParaRPr lang="en-US" sz="12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5B6B8C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216</a:t>
                      </a:r>
                      <a:endParaRPr lang="en-US" sz="12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5B6B8C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549,952.66</a:t>
                      </a:r>
                      <a:endParaRPr lang="en-US" sz="12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Germany</a:t>
                      </a:r>
                      <a:endParaRPr lang="en-US" sz="12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5B6B8C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106</a:t>
                      </a:r>
                      <a:endParaRPr lang="en-US" sz="12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5B6B8C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752</a:t>
                      </a:r>
                      <a:endParaRPr lang="en-US" sz="12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5B6B8C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388,732.70</a:t>
                      </a:r>
                      <a:endParaRPr lang="en-US" sz="12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France</a:t>
                      </a:r>
                      <a:endParaRPr lang="en-US" sz="12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5B6B8C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93</a:t>
                      </a:r>
                      <a:endParaRPr lang="en-US" sz="12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5B6B8C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592</a:t>
                      </a:r>
                      <a:endParaRPr lang="en-US" sz="12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5B6B8C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315,544.07</a:t>
                      </a:r>
                      <a:endParaRPr lang="en-US" sz="12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Australia</a:t>
                      </a:r>
                      <a:endParaRPr lang="en-US" sz="12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5B6B8C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14</a:t>
                      </a:r>
                      <a:endParaRPr lang="en-US" sz="12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5B6B8C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87</a:t>
                      </a:r>
                      <a:endParaRPr lang="en-US" sz="12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5B6B8C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169,137.44</a:t>
                      </a:r>
                      <a:endParaRPr lang="en-US" sz="12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7269480" y="3108960"/>
            <a:ext cx="438912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E2761">
                <a:alpha val="18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7498080" y="324612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4A24C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สังเกตที่พูดบนเวทีได้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7498080" y="3657600"/>
            <a:ext cx="39319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E2761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EIRE มีลูกค้าแค่ 3 ราย แต่รายได้สูงสุดนอก UK และมี 528 ออเดอร์ (เฉลี่ย 176 ออเดอร์/ราย)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E2761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ตรงข้ามกับ Germany ที่มีลูกค้า 106 รายแต่รายได้ต่ำกว่า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E2761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แปลว่า EIRE เป็นลูกค้าขายส่งรายใหญ่ไม่กี่ราย — concentration risk ต่างจากตลาดที่กระจายลูกค้ามากกว่า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457200" y="6473952"/>
            <a:ext cx="10725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B6B8C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รันจริงด้วย SQLite ใน analysis/g1d.py — ตัวเลขใกล้เคียงยอดขายจริงใน D5 (คลาดไม่เกิน 1-2% ส่วนใหญ่ ดูเหตุผลใน g1-d4-d8-data-decisions.md)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9171432" y="647395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B8C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G1-D · INT 540 Data Analytics</a:t>
            </a:r>
            <a:endParaRPr lang="en-US" sz="11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5F8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100" kern="0" dirty="0">
                <a:solidFill>
                  <a:srgbClr val="D4A24C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D8 · Characteristics ของข้อมูล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5V — จุดที่ต้องระวังที่สุดคือ Veracity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1106424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D7E1F5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655064"/>
            <a:ext cx="548640" cy="548640"/>
          </a:xfrm>
          <a:prstGeom prst="ellipse">
            <a:avLst/>
          </a:prstGeom>
          <a:solidFill>
            <a:srgbClr val="5B8A5E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65506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V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508760" y="1600200"/>
            <a:ext cx="1737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Volume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291840" y="1600200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B6B8C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1,067,371 แถว — "มากพอ" ตามเกณฑ์ (≥1,000) แต่เล็กกว่า Big Data จริง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2441448"/>
            <a:ext cx="1106424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D7E1F5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77240" y="2587752"/>
            <a:ext cx="548640" cy="548640"/>
          </a:xfrm>
          <a:prstGeom prst="ellipse">
            <a:avLst/>
          </a:prstGeom>
          <a:solidFill>
            <a:srgbClr val="5B6B8C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258775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V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508760" y="2532888"/>
            <a:ext cx="1737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Velocity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291840" y="2532888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B6B8C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Batch/historical — export ครั้งเดียว ไม่ใช่ streaming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3374136"/>
            <a:ext cx="1106424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D7E1F5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77240" y="3520440"/>
            <a:ext cx="548640" cy="548640"/>
          </a:xfrm>
          <a:prstGeom prst="ellipse">
            <a:avLst/>
          </a:prstGeom>
          <a:solidFill>
            <a:srgbClr val="5B6B8C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35204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V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508760" y="3465576"/>
            <a:ext cx="1737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Variety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3291840" y="3465576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B6B8C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Structured เท่านั้น — ตารางแบน 8 คอลัมน์ ไม่มีรูป/ข้อความอิสระปน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48640" y="4306824"/>
            <a:ext cx="1106424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D7E1F5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77240" y="4453128"/>
            <a:ext cx="548640" cy="548640"/>
          </a:xfrm>
          <a:prstGeom prst="ellipse">
            <a:avLst/>
          </a:prstGeom>
          <a:solidFill>
            <a:srgbClr val="B3402F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445312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V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1508760" y="4398264"/>
            <a:ext cx="1737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Veracity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3291840" y="4398264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B6B8C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ต่ำกว่าที่ดูตอนแรก — พิสูจน์แล้ว: อัตราคืนของผิดได้ 2 เท่า (7.59% vs 3.61%) ถ้ากรองไม่ถูก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548640" y="5239512"/>
            <a:ext cx="1106424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D7E1F5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77240" y="5385816"/>
            <a:ext cx="548640" cy="548640"/>
          </a:xfrm>
          <a:prstGeom prst="ellipse">
            <a:avLst/>
          </a:prstGeom>
          <a:solidFill>
            <a:srgbClr val="5B8A5E"/>
          </a:solidFill>
          <a:ln/>
        </p:spPr>
      </p:sp>
      <p:sp>
        <p:nvSpPr>
          <p:cNvPr id="26" name="Text 24"/>
          <p:cNvSpPr/>
          <p:nvPr/>
        </p:nvSpPr>
        <p:spPr>
          <a:xfrm>
            <a:off x="777240" y="538581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V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1508760" y="5330952"/>
            <a:ext cx="1737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Value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3291840" y="5330952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B6B8C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สูง — ตอบได้ตรงว่าลูกค้าเงียบเท่าไร คืนของกี่ % ตลาดไหนควรโฟกัส ใช้ตั้ง KPI ได้จริง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457200" y="6473952"/>
            <a:ext cx="10725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B6B8C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ข้อสรุป: relational database ที่มีปริมาณค่อนข้างมาก ไม่ใช่ Big Data เต็มรูปแบบ — Volume ผ่าน แต่ Velocity/Variety ไม่เข้าเกณฑ์ 5V ครบ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9171432" y="647395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B8C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G1-D · INT 540 Data Analytics</a:t>
            </a:r>
            <a:endParaRPr lang="en-US" sz="11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377440" y="-2377440"/>
            <a:ext cx="5486400" cy="5486400"/>
          </a:xfrm>
          <a:prstGeom prst="ellipse">
            <a:avLst/>
          </a:prstGeom>
          <a:solidFill>
            <a:srgbClr val="26348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11480"/>
            <a:ext cx="9144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สรุป Goal 1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9601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บริษัท + ปัญหา + ตัววัด + ข้อมูลพร้อมใช้ — พร้อมเดินหน้าสู่ Goal 2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1508760"/>
            <a:ext cx="10881360" cy="914400"/>
          </a:xfrm>
          <a:prstGeom prst="roundRect">
            <a:avLst>
              <a:gd name="adj" fmla="val 8000"/>
            </a:avLst>
          </a:prstGeom>
          <a:solidFill>
            <a:srgbClr val="263480"/>
          </a:solidFill>
          <a:ln w="12700">
            <a:solidFill>
              <a:srgbClr val="3C4B9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68680" y="1709928"/>
            <a:ext cx="502920" cy="502920"/>
          </a:xfrm>
          <a:prstGeom prst="ellipse">
            <a:avLst/>
          </a:prstGeom>
          <a:solidFill>
            <a:srgbClr val="D4A24C"/>
          </a:solidFill>
          <a:ln/>
          <a:effectLst>
            <a:outerShdw sx="100000" sy="100000" kx="0" ky="0" algn="bl" rotWithShape="0" blurRad="76200" dist="25400" dir="5400000">
              <a:srgbClr val="1E2761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68680" y="17099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A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554480" y="160020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บริษัท + กลยุทธ์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389120" y="1600200"/>
            <a:ext cx="6949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ร้านของขวัญ UK · Cost Leadership + Differentiation · ลูกค้าปลีก/ขายส่ง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2532888"/>
            <a:ext cx="10881360" cy="914400"/>
          </a:xfrm>
          <a:prstGeom prst="roundRect">
            <a:avLst>
              <a:gd name="adj" fmla="val 8000"/>
            </a:avLst>
          </a:prstGeom>
          <a:solidFill>
            <a:srgbClr val="263480"/>
          </a:solidFill>
          <a:ln w="12700">
            <a:solidFill>
              <a:srgbClr val="3C4B9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68680" y="2734056"/>
            <a:ext cx="502920" cy="502920"/>
          </a:xfrm>
          <a:prstGeom prst="ellipse">
            <a:avLst/>
          </a:prstGeom>
          <a:solidFill>
            <a:srgbClr val="D4A24C"/>
          </a:solidFill>
          <a:ln/>
          <a:effectLst>
            <a:outerShdw sx="100000" sy="100000" kx="0" ky="0" algn="bl" rotWithShape="0" blurRad="76200" dist="25400" dir="5400000">
              <a:srgbClr val="1E2761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68680" y="273405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B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554480" y="2624328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ปัญหาจากข้อมูลจริง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389120" y="2624328"/>
            <a:ext cx="6949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27.65% ซื้อครั้งเดียว · 40.64% เงียบ &gt;180 วัน · £813,004 มูลค่าเสี่ยง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40080" y="3557016"/>
            <a:ext cx="10881360" cy="914400"/>
          </a:xfrm>
          <a:prstGeom prst="roundRect">
            <a:avLst>
              <a:gd name="adj" fmla="val 8000"/>
            </a:avLst>
          </a:prstGeom>
          <a:solidFill>
            <a:srgbClr val="263480"/>
          </a:solidFill>
          <a:ln w="12700">
            <a:solidFill>
              <a:srgbClr val="3C4B9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68680" y="3758184"/>
            <a:ext cx="502920" cy="502920"/>
          </a:xfrm>
          <a:prstGeom prst="ellipse">
            <a:avLst/>
          </a:prstGeom>
          <a:solidFill>
            <a:srgbClr val="D4A24C"/>
          </a:solidFill>
          <a:ln/>
          <a:effectLst>
            <a:outerShdw sx="100000" sy="100000" kx="0" ky="0" algn="bl" rotWithShape="0" blurRad="76200" dist="25400" dir="5400000">
              <a:srgbClr val="1E2761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68680" y="375818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C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554480" y="3648456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Balanced Scorecard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389120" y="3648456"/>
            <a:ext cx="6949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Objective → KPI → baseline/target 4 มิติ · ห้ามตั้งเลขลอย ๆ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40080" y="4581144"/>
            <a:ext cx="10881360" cy="914400"/>
          </a:xfrm>
          <a:prstGeom prst="roundRect">
            <a:avLst>
              <a:gd name="adj" fmla="val 8000"/>
            </a:avLst>
          </a:prstGeom>
          <a:solidFill>
            <a:srgbClr val="263480"/>
          </a:solidFill>
          <a:ln w="12700">
            <a:solidFill>
              <a:srgbClr val="3C4B9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68680" y="4782312"/>
            <a:ext cx="502920" cy="502920"/>
          </a:xfrm>
          <a:prstGeom prst="ellipse">
            <a:avLst/>
          </a:prstGeom>
          <a:solidFill>
            <a:srgbClr val="D4A24C"/>
          </a:solidFill>
          <a:ln/>
          <a:effectLst>
            <a:outerShdw sx="100000" sy="100000" kx="0" ky="0" algn="bl" rotWithShape="0" blurRad="76200" dist="25400" dir="5400000">
              <a:srgbClr val="1E2761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868680" y="47823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D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554480" y="4672584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ข้อมูลพร้อมวิเคราะห์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4389120" y="4672584"/>
            <a:ext cx="6949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6 การตัดสินใจ + EDA + 4 ตาราง PK/FK + SQL รันได้จริง + 5V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40080" y="5696712"/>
            <a:ext cx="10881360" cy="868680"/>
          </a:xfrm>
          <a:prstGeom prst="roundRect">
            <a:avLst>
              <a:gd name="adj" fmla="val 8421"/>
            </a:avLst>
          </a:prstGeom>
          <a:solidFill>
            <a:srgbClr val="FFF4E0"/>
          </a:solidFill>
          <a:ln w="12700">
            <a:solidFill>
              <a:srgbClr val="D4A24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68680" y="5696712"/>
            <a:ext cx="10424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1E2761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ข้อจำกัดที่พูดเอง: </a:t>
            </a:r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E2761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ตัวเลขระดับลูกค้าครอบคลุม 86.65% ของยอดขาย (Customer ID หาย 22.77%) · ไม่มีข้อมูลต้นทุน/แคมเปญ — พิสูจน์ได้ว่า "ใคร" จะเงียบ แต่พิสูจน์ไม่ได้ว่าติดต่อแล้วทำให้กลับมาจริงกี่ %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457200" y="6473952"/>
            <a:ext cx="10725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895B8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ต่อไป: G1-E2–E6 ใส่ตัวเลขจริงทุกจุด → สรุป 1 หน้า → ซ้อม → อัปโหลด PPT ภายใน 30 ก.ย. · นำเสนอ 1 ต.ค.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9171432" y="647395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895B8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G1 · INT 540 Data Analytics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2026-09-17T07:23:28Z</dcterms:created>
  <dcterms:modified xsi:type="dcterms:W3CDTF">2026-09-17T07:23:28Z</dcterms:modified>
</cp:coreProperties>
</file>